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slide+xml" PartName="/ppt/slides/slide38.xml"/>
  <Override ContentType="application/vnd.openxmlformats-officedocument.presentationml.slide+xml" PartName="/ppt/slides/slide39.xml"/>
  <Override ContentType="application/vnd.openxmlformats-officedocument.presentationml.slide+xml" PartName="/ppt/slides/slide4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</p:sldIdLst>
  <p:sldSz cx="18288000" cy="10287000"/>
  <p:notesSz cx="6858000" cy="9144000"/>
  <p:embeddedFontLst>
    <p:embeddedFont>
      <p:font typeface="Anton" charset="1" panose="00000500000000000000"/>
      <p:regular r:id="rId46"/>
    </p:embeddedFont>
    <p:embeddedFont>
      <p:font typeface="DM Sans" charset="1" panose="00000000000000000000"/>
      <p:regular r:id="rId47"/>
    </p:embeddedFont>
    <p:embeddedFont>
      <p:font typeface="DM Sans Bold" charset="1" panose="00000000000000000000"/>
      <p:regular r:id="rId48"/>
    </p:embeddedFont>
    <p:embeddedFont>
      <p:font typeface="Canva Sans Bold" charset="1" panose="020B0803030501040103"/>
      <p:regular r:id="rId49"/>
    </p:embeddedFont>
    <p:embeddedFont>
      <p:font typeface="Canva Sans" charset="1" panose="020B0503030501040103"/>
      <p:regular r:id="rId5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slides/slide36.xml" Type="http://schemas.openxmlformats.org/officeDocument/2006/relationships/slide"/><Relationship Id="rId42" Target="slides/slide37.xml" Type="http://schemas.openxmlformats.org/officeDocument/2006/relationships/slide"/><Relationship Id="rId43" Target="slides/slide38.xml" Type="http://schemas.openxmlformats.org/officeDocument/2006/relationships/slide"/><Relationship Id="rId44" Target="slides/slide39.xml" Type="http://schemas.openxmlformats.org/officeDocument/2006/relationships/slide"/><Relationship Id="rId45" Target="slides/slide40.xml" Type="http://schemas.openxmlformats.org/officeDocument/2006/relationships/slide"/><Relationship Id="rId46" Target="fonts/font46.fntdata" Type="http://schemas.openxmlformats.org/officeDocument/2006/relationships/font"/><Relationship Id="rId47" Target="fonts/font47.fntdata" Type="http://schemas.openxmlformats.org/officeDocument/2006/relationships/font"/><Relationship Id="rId48" Target="fonts/font48.fntdata" Type="http://schemas.openxmlformats.org/officeDocument/2006/relationships/font"/><Relationship Id="rId49" Target="fonts/font49.fntdata" Type="http://schemas.openxmlformats.org/officeDocument/2006/relationships/font"/><Relationship Id="rId5" Target="tableStyles.xml" Type="http://schemas.openxmlformats.org/officeDocument/2006/relationships/tableStyles"/><Relationship Id="rId50" Target="fonts/font50.fntdata" Type="http://schemas.openxmlformats.org/officeDocument/2006/relationships/font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8.png" Type="http://schemas.openxmlformats.org/officeDocument/2006/relationships/image"/><Relationship Id="rId5" Target="../media/image1.png" Type="http://schemas.openxmlformats.org/officeDocument/2006/relationships/image"/><Relationship Id="rId6" Target="../media/image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4.png" Type="http://schemas.openxmlformats.org/officeDocument/2006/relationships/image"/><Relationship Id="rId5" Target="../media/image15.png" Type="http://schemas.openxmlformats.org/officeDocument/2006/relationships/image"/><Relationship Id="rId6" Target="../media/image16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Relationship Id="rId3" Target="../media/image27.png" Type="http://schemas.openxmlformats.org/officeDocument/2006/relationships/image"/><Relationship Id="rId4" Target="../media/image28.pn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3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3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3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3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4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29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9C9">
                <a:alpha val="100000"/>
              </a:srgbClr>
            </a:gs>
            <a:gs pos="100000">
              <a:srgbClr val="00FFF7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11310430" y="237350"/>
            <a:ext cx="6726332" cy="6726332"/>
          </a:xfrm>
          <a:custGeom>
            <a:avLst/>
            <a:gdLst/>
            <a:ahLst/>
            <a:cxnLst/>
            <a:rect r="r" b="b" t="t" l="l"/>
            <a:pathLst>
              <a:path h="6726332" w="6726332">
                <a:moveTo>
                  <a:pt x="0" y="6726332"/>
                </a:moveTo>
                <a:lnTo>
                  <a:pt x="6726332" y="6726332"/>
                </a:lnTo>
                <a:lnTo>
                  <a:pt x="6726332" y="0"/>
                </a:lnTo>
                <a:lnTo>
                  <a:pt x="0" y="0"/>
                </a:lnTo>
                <a:lnTo>
                  <a:pt x="0" y="6726332"/>
                </a:lnTo>
                <a:close/>
              </a:path>
            </a:pathLst>
          </a:custGeom>
          <a:blipFill>
            <a:blip r:embed="rId2">
              <a:alphaModFix amt="44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3" id="3"/>
          <p:cNvSpPr txBox="true"/>
          <p:nvPr/>
        </p:nvSpPr>
        <p:spPr>
          <a:xfrm rot="0">
            <a:off x="10838441" y="2077087"/>
            <a:ext cx="3135025" cy="2584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174"/>
              </a:lnSpc>
              <a:spcBef>
                <a:spcPct val="0"/>
              </a:spcBef>
            </a:pPr>
            <a:r>
              <a:rPr lang="en-US" sz="15124">
                <a:solidFill>
                  <a:srgbClr val="66FFFF"/>
                </a:solidFill>
                <a:latin typeface="Anton"/>
                <a:ea typeface="Anton"/>
                <a:cs typeface="Anton"/>
                <a:sym typeface="Anton"/>
              </a:rPr>
              <a:t>AVA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472728" y="4408659"/>
            <a:ext cx="16937991" cy="1770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571"/>
              </a:lnSpc>
              <a:spcBef>
                <a:spcPct val="0"/>
              </a:spcBef>
            </a:pPr>
            <a:r>
              <a:rPr lang="en-US" sz="10408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A</a:t>
            </a:r>
            <a:r>
              <a:rPr lang="en-US" sz="10408" strike="noStrike" u="non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I</a:t>
            </a:r>
            <a:r>
              <a:rPr lang="en-US" sz="10408" strike="noStrike" u="non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 VISIO</a:t>
            </a:r>
            <a:r>
              <a:rPr lang="en-US" sz="10408" strike="noStrike" u="non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N</a:t>
            </a:r>
            <a:r>
              <a:rPr lang="en-US" sz="10408" strike="noStrike" u="non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 ASSIS</a:t>
            </a:r>
            <a:r>
              <a:rPr lang="en-US" sz="10408" strike="noStrike" u="non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T</a:t>
            </a:r>
            <a:r>
              <a:rPr lang="en-US" sz="10408" strike="noStrike" u="non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A</a:t>
            </a:r>
            <a:r>
              <a:rPr lang="en-US" sz="10408" strike="noStrike" u="non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N</a:t>
            </a:r>
            <a:r>
              <a:rPr lang="en-US" sz="10408" strike="noStrike" u="non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T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425870" y="2263200"/>
            <a:ext cx="6436211" cy="6653977"/>
          </a:xfrm>
          <a:custGeom>
            <a:avLst/>
            <a:gdLst/>
            <a:ahLst/>
            <a:cxnLst/>
            <a:rect r="r" b="b" t="t" l="l"/>
            <a:pathLst>
              <a:path h="6653977" w="6436211">
                <a:moveTo>
                  <a:pt x="0" y="0"/>
                </a:moveTo>
                <a:lnTo>
                  <a:pt x="6436211" y="0"/>
                </a:lnTo>
                <a:lnTo>
                  <a:pt x="6436211" y="6653977"/>
                </a:lnTo>
                <a:lnTo>
                  <a:pt x="0" y="665397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6862081" y="2120271"/>
            <a:ext cx="7191919" cy="7191919"/>
          </a:xfrm>
          <a:custGeom>
            <a:avLst/>
            <a:gdLst/>
            <a:ahLst/>
            <a:cxnLst/>
            <a:rect r="r" b="b" t="t" l="l"/>
            <a:pathLst>
              <a:path h="7191919" w="7191919">
                <a:moveTo>
                  <a:pt x="7191920" y="0"/>
                </a:moveTo>
                <a:lnTo>
                  <a:pt x="0" y="0"/>
                </a:lnTo>
                <a:lnTo>
                  <a:pt x="0" y="7191919"/>
                </a:lnTo>
                <a:lnTo>
                  <a:pt x="7191920" y="7191919"/>
                </a:lnTo>
                <a:lnTo>
                  <a:pt x="7191920" y="0"/>
                </a:lnTo>
                <a:close/>
              </a:path>
            </a:pathLst>
          </a:custGeom>
          <a:blipFill>
            <a:blip r:embed="rId2">
              <a:alphaModFix amt="44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7472728" y="7155551"/>
            <a:ext cx="4005033" cy="928958"/>
            <a:chOff x="0" y="0"/>
            <a:chExt cx="1135819" cy="26345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35819" cy="263451"/>
            </a:xfrm>
            <a:custGeom>
              <a:avLst/>
              <a:gdLst/>
              <a:ahLst/>
              <a:cxnLst/>
              <a:rect r="r" b="b" t="t" l="l"/>
              <a:pathLst>
                <a:path h="263451" w="1135819">
                  <a:moveTo>
                    <a:pt x="131725" y="0"/>
                  </a:moveTo>
                  <a:lnTo>
                    <a:pt x="1004093" y="0"/>
                  </a:lnTo>
                  <a:cubicBezTo>
                    <a:pt x="1076843" y="0"/>
                    <a:pt x="1135819" y="58975"/>
                    <a:pt x="1135819" y="131725"/>
                  </a:cubicBezTo>
                  <a:lnTo>
                    <a:pt x="1135819" y="131725"/>
                  </a:lnTo>
                  <a:cubicBezTo>
                    <a:pt x="1135819" y="204475"/>
                    <a:pt x="1076843" y="263451"/>
                    <a:pt x="1004093" y="263451"/>
                  </a:cubicBezTo>
                  <a:lnTo>
                    <a:pt x="131725" y="263451"/>
                  </a:lnTo>
                  <a:cubicBezTo>
                    <a:pt x="58975" y="263451"/>
                    <a:pt x="0" y="204475"/>
                    <a:pt x="0" y="131725"/>
                  </a:cubicBezTo>
                  <a:lnTo>
                    <a:pt x="0" y="131725"/>
                  </a:lnTo>
                  <a:cubicBezTo>
                    <a:pt x="0" y="58975"/>
                    <a:pt x="58975" y="0"/>
                    <a:pt x="131725" y="0"/>
                  </a:cubicBezTo>
                  <a:close/>
                </a:path>
              </a:pathLst>
            </a:custGeom>
            <a:solidFill>
              <a:srgbClr val="FFFFFF">
                <a:alpha val="25882"/>
              </a:srgbClr>
            </a:solidFill>
            <a:ln w="85725" cap="rnd">
              <a:solidFill>
                <a:srgbClr val="FFFFFF">
                  <a:alpha val="25882"/>
                </a:srgbClr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135819" cy="3015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7472728" y="7155551"/>
            <a:ext cx="4005033" cy="928958"/>
            <a:chOff x="0" y="0"/>
            <a:chExt cx="1135819" cy="26345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35819" cy="263451"/>
            </a:xfrm>
            <a:custGeom>
              <a:avLst/>
              <a:gdLst/>
              <a:ahLst/>
              <a:cxnLst/>
              <a:rect r="r" b="b" t="t" l="l"/>
              <a:pathLst>
                <a:path h="263451" w="1135819">
                  <a:moveTo>
                    <a:pt x="131725" y="0"/>
                  </a:moveTo>
                  <a:lnTo>
                    <a:pt x="1004093" y="0"/>
                  </a:lnTo>
                  <a:cubicBezTo>
                    <a:pt x="1076843" y="0"/>
                    <a:pt x="1135819" y="58975"/>
                    <a:pt x="1135819" y="131725"/>
                  </a:cubicBezTo>
                  <a:lnTo>
                    <a:pt x="1135819" y="131725"/>
                  </a:lnTo>
                  <a:cubicBezTo>
                    <a:pt x="1135819" y="204475"/>
                    <a:pt x="1076843" y="263451"/>
                    <a:pt x="1004093" y="263451"/>
                  </a:cubicBezTo>
                  <a:lnTo>
                    <a:pt x="131725" y="263451"/>
                  </a:lnTo>
                  <a:cubicBezTo>
                    <a:pt x="58975" y="263451"/>
                    <a:pt x="0" y="204475"/>
                    <a:pt x="0" y="131725"/>
                  </a:cubicBezTo>
                  <a:lnTo>
                    <a:pt x="0" y="131725"/>
                  </a:lnTo>
                  <a:cubicBezTo>
                    <a:pt x="0" y="58975"/>
                    <a:pt x="58975" y="0"/>
                    <a:pt x="13172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135819" cy="3015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2681218" y="775970"/>
            <a:ext cx="4578082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Artificial Intelligence</a:t>
            </a:r>
          </a:p>
        </p:txBody>
      </p:sp>
      <p:sp>
        <p:nvSpPr>
          <p:cNvPr name="AutoShape 14" id="14"/>
          <p:cNvSpPr/>
          <p:nvPr/>
        </p:nvSpPr>
        <p:spPr>
          <a:xfrm>
            <a:off x="4099971" y="9277350"/>
            <a:ext cx="13159329" cy="0"/>
          </a:xfrm>
          <a:prstGeom prst="line">
            <a:avLst/>
          </a:prstGeom>
          <a:ln cap="flat" w="571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5" id="15"/>
          <p:cNvSpPr/>
          <p:nvPr/>
        </p:nvSpPr>
        <p:spPr>
          <a:xfrm flipH="true" flipV="false" rot="0">
            <a:off x="14760210" y="6589367"/>
            <a:ext cx="4064756" cy="3362662"/>
          </a:xfrm>
          <a:custGeom>
            <a:avLst/>
            <a:gdLst/>
            <a:ahLst/>
            <a:cxnLst/>
            <a:rect r="r" b="b" t="t" l="l"/>
            <a:pathLst>
              <a:path h="3362662" w="4064756">
                <a:moveTo>
                  <a:pt x="4064756" y="0"/>
                </a:moveTo>
                <a:lnTo>
                  <a:pt x="0" y="0"/>
                </a:lnTo>
                <a:lnTo>
                  <a:pt x="0" y="3362661"/>
                </a:lnTo>
                <a:lnTo>
                  <a:pt x="4064756" y="3362661"/>
                </a:lnTo>
                <a:lnTo>
                  <a:pt x="4064756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6" id="16"/>
          <p:cNvSpPr/>
          <p:nvPr/>
        </p:nvSpPr>
        <p:spPr>
          <a:xfrm>
            <a:off x="1810930" y="1019175"/>
            <a:ext cx="11737029" cy="0"/>
          </a:xfrm>
          <a:prstGeom prst="line">
            <a:avLst/>
          </a:prstGeom>
          <a:ln cap="flat" w="571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7" id="17"/>
          <p:cNvSpPr/>
          <p:nvPr/>
        </p:nvSpPr>
        <p:spPr>
          <a:xfrm flipH="false" flipV="false" rot="0">
            <a:off x="-753881" y="370144"/>
            <a:ext cx="4064756" cy="3362662"/>
          </a:xfrm>
          <a:custGeom>
            <a:avLst/>
            <a:gdLst/>
            <a:ahLst/>
            <a:cxnLst/>
            <a:rect r="r" b="b" t="t" l="l"/>
            <a:pathLst>
              <a:path h="3362662" w="4064756">
                <a:moveTo>
                  <a:pt x="0" y="0"/>
                </a:moveTo>
                <a:lnTo>
                  <a:pt x="4064756" y="0"/>
                </a:lnTo>
                <a:lnTo>
                  <a:pt x="4064756" y="3362661"/>
                </a:lnTo>
                <a:lnTo>
                  <a:pt x="0" y="336266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7802305" y="7381535"/>
            <a:ext cx="3345879" cy="447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43"/>
              </a:lnSpc>
              <a:spcBef>
                <a:spcPct val="0"/>
              </a:spcBef>
            </a:pPr>
            <a:r>
              <a:rPr lang="en-US" b="true" sz="2673" spc="505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PRESENTATION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278497" y="2859848"/>
            <a:ext cx="4970006" cy="5058281"/>
            <a:chOff x="0" y="0"/>
            <a:chExt cx="798615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98615" cy="812800"/>
            </a:xfrm>
            <a:custGeom>
              <a:avLst/>
              <a:gdLst/>
              <a:ahLst/>
              <a:cxnLst/>
              <a:rect r="r" b="b" t="t" l="l"/>
              <a:pathLst>
                <a:path h="812800" w="798615">
                  <a:moveTo>
                    <a:pt x="399308" y="0"/>
                  </a:moveTo>
                  <a:cubicBezTo>
                    <a:pt x="178776" y="0"/>
                    <a:pt x="0" y="181951"/>
                    <a:pt x="0" y="406400"/>
                  </a:cubicBezTo>
                  <a:cubicBezTo>
                    <a:pt x="0" y="630849"/>
                    <a:pt x="178776" y="812800"/>
                    <a:pt x="399308" y="812800"/>
                  </a:cubicBezTo>
                  <a:cubicBezTo>
                    <a:pt x="619839" y="812800"/>
                    <a:pt x="798615" y="630849"/>
                    <a:pt x="798615" y="406400"/>
                  </a:cubicBezTo>
                  <a:cubicBezTo>
                    <a:pt x="798615" y="181951"/>
                    <a:pt x="619839" y="0"/>
                    <a:pt x="399308" y="0"/>
                  </a:cubicBezTo>
                  <a:close/>
                </a:path>
              </a:pathLst>
            </a:custGeom>
            <a:blipFill>
              <a:blip r:embed="rId8"/>
              <a:stretch>
                <a:fillRect l="-888" t="0" r="-888" b="0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0009C9">
                <a:alpha val="100000"/>
              </a:srgbClr>
            </a:gs>
            <a:gs pos="100000">
              <a:srgbClr val="00FFF7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3843026" y="2570934"/>
          <a:ext cx="11072920" cy="5695950"/>
        </p:xfrm>
        <a:graphic>
          <a:graphicData uri="http://schemas.openxmlformats.org/drawingml/2006/table">
            <a:tbl>
              <a:tblPr/>
              <a:tblGrid>
                <a:gridCol w="6428676"/>
                <a:gridCol w="4644243"/>
              </a:tblGrid>
              <a:tr h="111234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899"/>
                        </a:lnSpc>
                        <a:defRPr/>
                      </a:pPr>
                      <a:r>
                        <a:rPr lang="en-US" b="true" sz="3499">
                          <a:solidFill>
                            <a:srgbClr val="FFFFFF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Name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5039"/>
                        </a:lnSpc>
                        <a:defRPr/>
                      </a:pPr>
                      <a:r>
                        <a:rPr lang="en-US" sz="3599" b="true">
                          <a:solidFill>
                            <a:srgbClr val="FFFFFF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ID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0137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FFFFFF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Ahmed Taha Mohamed Mohamed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FFFFFF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22010315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2055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FB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Abdullah Jamal Al-Sayed Khalil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FFFFFF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22010366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2055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FB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Fouad Ramzy Fouad Hassan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FFFFFF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22010180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2055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FFFFFF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Mostafa Mahmoud Mohamed Noseir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 b="true">
                          <a:solidFill>
                            <a:srgbClr val="FFFFFF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22010260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2055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FFFFFF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Youssef Mohamed Abdelkader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 b="true">
                          <a:solidFill>
                            <a:srgbClr val="FFFFFF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22010311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3" id="3"/>
          <p:cNvSpPr txBox="true"/>
          <p:nvPr/>
        </p:nvSpPr>
        <p:spPr>
          <a:xfrm rot="0">
            <a:off x="495221" y="790657"/>
            <a:ext cx="10972237" cy="1384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true">
                <a:solidFill>
                  <a:srgbClr val="FB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Project Supervisor : Dr.Nermine Elkashef</a:t>
            </a:r>
          </a:p>
          <a:p>
            <a:pPr algn="ctr">
              <a:lnSpc>
                <a:spcPts val="5599"/>
              </a:lnSpc>
            </a:pPr>
            <a:r>
              <a:rPr lang="en-US" sz="3999" b="true">
                <a:solidFill>
                  <a:srgbClr val="FB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57831" y="9185275"/>
            <a:ext cx="10364748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true">
                <a:solidFill>
                  <a:srgbClr val="FB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Gra</a:t>
            </a:r>
            <a:r>
              <a:rPr lang="en-US" b="true" sz="2499">
                <a:solidFill>
                  <a:srgbClr val="FB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duation Project I Documentation - Academic Year (2025 – 2026)</a:t>
            </a:r>
          </a:p>
          <a:p>
            <a:pPr algn="ctr">
              <a:lnSpc>
                <a:spcPts val="3499"/>
              </a:lnSpc>
            </a:pPr>
          </a:p>
        </p:txBody>
      </p:sp>
    </p:spTree>
  </p:cSld>
  <p:clrMapOvr>
    <a:masterClrMapping/>
  </p:clrMapOvr>
  <p:transition spd="fast">
    <p:fade/>
  </p:transition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0009C9">
                <a:alpha val="100000"/>
              </a:srgbClr>
            </a:gs>
            <a:gs pos="100000">
              <a:srgbClr val="00FFF7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724217" y="474979"/>
            <a:ext cx="10350562" cy="1002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59"/>
              </a:lnSpc>
            </a:pPr>
            <a:r>
              <a:rPr lang="en-US" sz="5899">
                <a:solidFill>
                  <a:srgbClr val="FBFFFF"/>
                </a:solidFill>
                <a:latin typeface="Anton"/>
                <a:ea typeface="Anton"/>
                <a:cs typeface="Anton"/>
                <a:sym typeface="Anton"/>
              </a:rPr>
              <a:t>Agenda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54221" y="2215713"/>
            <a:ext cx="8245277" cy="7175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49" indent="-377824" lvl="1">
              <a:lnSpc>
                <a:spcPts val="4899"/>
              </a:lnSpc>
              <a:spcBef>
                <a:spcPct val="0"/>
              </a:spcBef>
              <a:buAutoNum type="arabicPeriod" startAt="1"/>
            </a:pPr>
            <a:r>
              <a:rPr lang="en-US" sz="3499">
                <a:solidFill>
                  <a:srgbClr val="00FFF7"/>
                </a:solidFill>
                <a:latin typeface="DM Sans"/>
                <a:ea typeface="DM Sans"/>
                <a:cs typeface="DM Sans"/>
                <a:sym typeface="DM Sans"/>
              </a:rPr>
              <a:t>Introduction &amp; Project Overview</a:t>
            </a:r>
          </a:p>
          <a:p>
            <a:pPr algn="l" marL="647702" indent="-323851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FBFFFF"/>
                </a:solidFill>
                <a:latin typeface="DM Sans"/>
                <a:ea typeface="DM Sans"/>
                <a:cs typeface="DM Sans"/>
                <a:sym typeface="DM Sans"/>
              </a:rPr>
              <a:t>Overview</a:t>
            </a:r>
          </a:p>
          <a:p>
            <a:pPr algn="l" marL="647702" indent="-323851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FBFFFF"/>
                </a:solidFill>
                <a:latin typeface="DM Sans"/>
                <a:ea typeface="DM Sans"/>
                <a:cs typeface="DM Sans"/>
                <a:sym typeface="DM Sans"/>
              </a:rPr>
              <a:t>Problem Statement</a:t>
            </a:r>
          </a:p>
          <a:p>
            <a:pPr algn="l" marL="647702" indent="-323851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FBFFFF"/>
                </a:solidFill>
                <a:latin typeface="DM Sans"/>
                <a:ea typeface="DM Sans"/>
                <a:cs typeface="DM Sans"/>
                <a:sym typeface="DM Sans"/>
              </a:rPr>
              <a:t>Importance, Goals &amp; Features Comparison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</a:p>
          <a:p>
            <a:pPr algn="l" marL="755649" indent="-377824" lvl="1">
              <a:lnSpc>
                <a:spcPts val="4899"/>
              </a:lnSpc>
              <a:spcBef>
                <a:spcPct val="0"/>
              </a:spcBef>
              <a:buAutoNum type="arabicPeriod" startAt="1"/>
            </a:pPr>
            <a:r>
              <a:rPr lang="en-US" sz="3499">
                <a:solidFill>
                  <a:srgbClr val="00FFF7"/>
                </a:solidFill>
                <a:latin typeface="DM Sans"/>
                <a:ea typeface="DM Sans"/>
                <a:cs typeface="DM Sans"/>
                <a:sym typeface="DM Sans"/>
              </a:rPr>
              <a:t>Businiess Requirements</a:t>
            </a:r>
          </a:p>
          <a:p>
            <a:pPr algn="l" marL="647702" indent="-323851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FBFFFF"/>
                </a:solidFill>
                <a:latin typeface="DM Sans"/>
                <a:ea typeface="DM Sans"/>
                <a:cs typeface="DM Sans"/>
                <a:sym typeface="DM Sans"/>
              </a:rPr>
              <a:t>Gathering Methods &amp; Results</a:t>
            </a:r>
          </a:p>
          <a:p>
            <a:pPr algn="l" marL="647702" indent="-323851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FBFFFF"/>
                </a:solidFill>
                <a:latin typeface="DM Sans"/>
                <a:ea typeface="DM Sans"/>
                <a:cs typeface="DM Sans"/>
                <a:sym typeface="DM Sans"/>
              </a:rPr>
              <a:t>Functional &amp; Non-functional Requirements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</a:p>
          <a:p>
            <a:pPr algn="l" marL="755649" indent="-377824" lvl="1">
              <a:lnSpc>
                <a:spcPts val="4899"/>
              </a:lnSpc>
              <a:spcBef>
                <a:spcPct val="0"/>
              </a:spcBef>
              <a:buAutoNum type="arabicPeriod" startAt="1"/>
            </a:pPr>
            <a:r>
              <a:rPr lang="en-US" sz="3499">
                <a:solidFill>
                  <a:srgbClr val="00FFF7"/>
                </a:solidFill>
                <a:latin typeface="DM Sans"/>
                <a:ea typeface="DM Sans"/>
                <a:cs typeface="DM Sans"/>
                <a:sym typeface="DM Sans"/>
              </a:rPr>
              <a:t>System Design</a:t>
            </a:r>
          </a:p>
          <a:p>
            <a:pPr algn="l" marL="647702" indent="-323851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FBFFFF"/>
                </a:solidFill>
                <a:latin typeface="DM Sans"/>
                <a:ea typeface="DM Sans"/>
                <a:cs typeface="DM Sans"/>
                <a:sym typeface="DM Sans"/>
              </a:rPr>
              <a:t>Use Case Diagram</a:t>
            </a:r>
          </a:p>
          <a:p>
            <a:pPr algn="l" marL="647702" indent="-323851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FBFFFF"/>
                </a:solidFill>
                <a:latin typeface="DM Sans"/>
                <a:ea typeface="DM Sans"/>
                <a:cs typeface="DM Sans"/>
                <a:sym typeface="DM Sans"/>
              </a:rPr>
              <a:t>Sequence, Block, Data Flow, State Diagrams</a:t>
            </a:r>
          </a:p>
          <a:p>
            <a:pPr algn="l" marL="647702" indent="-323851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FBFFFF"/>
                </a:solidFill>
                <a:latin typeface="DM Sans"/>
                <a:ea typeface="DM Sans"/>
                <a:cs typeface="DM Sans"/>
                <a:sym typeface="DM Sans"/>
              </a:rPr>
              <a:t>ERD &amp; UML Class Diagram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584400" y="2724150"/>
            <a:ext cx="8203245" cy="5559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47" indent="-377824" lvl="1">
              <a:lnSpc>
                <a:spcPts val="4899"/>
              </a:lnSpc>
              <a:spcBef>
                <a:spcPct val="0"/>
              </a:spcBef>
              <a:buAutoNum type="arabicPeriod" startAt="1"/>
            </a:pPr>
            <a:r>
              <a:rPr lang="en-US" sz="3499">
                <a:solidFill>
                  <a:srgbClr val="00FFF7"/>
                </a:solidFill>
                <a:latin typeface="Canva Sans"/>
                <a:ea typeface="Canva Sans"/>
                <a:cs typeface="Canva Sans"/>
                <a:sym typeface="Canva Sans"/>
              </a:rPr>
              <a:t>Implementation Aspects</a:t>
            </a:r>
          </a:p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FBFFFF"/>
                </a:solidFill>
                <a:latin typeface="Canva Sans"/>
                <a:ea typeface="Canva Sans"/>
                <a:cs typeface="Canva Sans"/>
                <a:sym typeface="Canva Sans"/>
              </a:rPr>
              <a:t>Datasets </a:t>
            </a:r>
          </a:p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FBFFFF"/>
                </a:solidFill>
                <a:latin typeface="Canva Sans"/>
                <a:ea typeface="Canva Sans"/>
                <a:cs typeface="Canva Sans"/>
                <a:sym typeface="Canva Sans"/>
              </a:rPr>
              <a:t>Tools &amp; Technologies</a:t>
            </a:r>
          </a:p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FBFFFF"/>
                </a:solidFill>
                <a:latin typeface="Canva Sans"/>
                <a:ea typeface="Canva Sans"/>
                <a:cs typeface="Canva Sans"/>
                <a:sym typeface="Canva Sans"/>
              </a:rPr>
              <a:t>Prototype Screenshots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</a:p>
          <a:p>
            <a:pPr algn="l" marL="755647" indent="-377824" lvl="1">
              <a:lnSpc>
                <a:spcPts val="4899"/>
              </a:lnSpc>
              <a:spcBef>
                <a:spcPct val="0"/>
              </a:spcBef>
              <a:buAutoNum type="arabicPeriod" startAt="1"/>
            </a:pPr>
            <a:r>
              <a:rPr lang="en-US" sz="3499">
                <a:solidFill>
                  <a:srgbClr val="00FFF7"/>
                </a:solidFill>
                <a:latin typeface="Canva Sans"/>
                <a:ea typeface="Canva Sans"/>
                <a:cs typeface="Canva Sans"/>
                <a:sym typeface="Canva Sans"/>
              </a:rPr>
              <a:t>Future Work Plan</a:t>
            </a:r>
          </a:p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FBFFFF"/>
                </a:solidFill>
                <a:latin typeface="Canva Sans"/>
                <a:ea typeface="Canva Sans"/>
                <a:cs typeface="Canva Sans"/>
                <a:sym typeface="Canva Sans"/>
              </a:rPr>
              <a:t>Remaining Tasks</a:t>
            </a:r>
          </a:p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FBFFFF"/>
                </a:solidFill>
                <a:latin typeface="Canva Sans"/>
                <a:ea typeface="Canva Sans"/>
                <a:cs typeface="Canva Sans"/>
                <a:sym typeface="Canva Sans"/>
              </a:rPr>
              <a:t>Risks &amp; Solutions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</a:p>
          <a:p>
            <a:pPr algn="l" marL="755647" indent="-377824" lvl="1">
              <a:lnSpc>
                <a:spcPts val="4899"/>
              </a:lnSpc>
              <a:spcBef>
                <a:spcPct val="0"/>
              </a:spcBef>
              <a:buAutoNum type="arabicPeriod" startAt="1"/>
            </a:pPr>
            <a:r>
              <a:rPr lang="en-US" sz="3499">
                <a:solidFill>
                  <a:srgbClr val="00FFF7"/>
                </a:solidFill>
                <a:latin typeface="Canva Sans"/>
                <a:ea typeface="Canva Sans"/>
                <a:cs typeface="Canva Sans"/>
                <a:sym typeface="Canva Sans"/>
              </a:rPr>
              <a:t>Conclusion &amp; Q&amp;A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9C9">
                <a:alpha val="100000"/>
              </a:srgbClr>
            </a:gs>
            <a:gs pos="100000">
              <a:srgbClr val="00FFF7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4363903" y="6364892"/>
            <a:ext cx="4064756" cy="3362662"/>
          </a:xfrm>
          <a:custGeom>
            <a:avLst/>
            <a:gdLst/>
            <a:ahLst/>
            <a:cxnLst/>
            <a:rect r="r" b="b" t="t" l="l"/>
            <a:pathLst>
              <a:path h="3362662" w="4064756">
                <a:moveTo>
                  <a:pt x="4064756" y="0"/>
                </a:moveTo>
                <a:lnTo>
                  <a:pt x="0" y="0"/>
                </a:lnTo>
                <a:lnTo>
                  <a:pt x="0" y="3362661"/>
                </a:lnTo>
                <a:lnTo>
                  <a:pt x="4064756" y="3362661"/>
                </a:lnTo>
                <a:lnTo>
                  <a:pt x="406475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283393" y="4791155"/>
            <a:ext cx="9721213" cy="5044815"/>
            <a:chOff x="0" y="0"/>
            <a:chExt cx="1684522" cy="87418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684522" cy="874181"/>
            </a:xfrm>
            <a:custGeom>
              <a:avLst/>
              <a:gdLst/>
              <a:ahLst/>
              <a:cxnLst/>
              <a:rect r="r" b="b" t="t" l="l"/>
              <a:pathLst>
                <a:path h="874181" w="1684522">
                  <a:moveTo>
                    <a:pt x="18317" y="0"/>
                  </a:moveTo>
                  <a:lnTo>
                    <a:pt x="1666204" y="0"/>
                  </a:lnTo>
                  <a:cubicBezTo>
                    <a:pt x="1676321" y="0"/>
                    <a:pt x="1684522" y="8201"/>
                    <a:pt x="1684522" y="18317"/>
                  </a:cubicBezTo>
                  <a:lnTo>
                    <a:pt x="1684522" y="855864"/>
                  </a:lnTo>
                  <a:cubicBezTo>
                    <a:pt x="1684522" y="865980"/>
                    <a:pt x="1676321" y="874181"/>
                    <a:pt x="1666204" y="874181"/>
                  </a:cubicBezTo>
                  <a:lnTo>
                    <a:pt x="18317" y="874181"/>
                  </a:lnTo>
                  <a:cubicBezTo>
                    <a:pt x="8201" y="874181"/>
                    <a:pt x="0" y="865980"/>
                    <a:pt x="0" y="855864"/>
                  </a:cubicBezTo>
                  <a:lnTo>
                    <a:pt x="0" y="18317"/>
                  </a:lnTo>
                  <a:cubicBezTo>
                    <a:pt x="0" y="8201"/>
                    <a:pt x="8201" y="0"/>
                    <a:pt x="18317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4239" r="0" b="-4239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300213" y="1913232"/>
            <a:ext cx="16499894" cy="2543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00FFF7"/>
                </a:solidFill>
                <a:latin typeface="DM Sans Bold"/>
                <a:ea typeface="DM Sans Bold"/>
                <a:cs typeface="DM Sans Bold"/>
                <a:sym typeface="DM Sans Bold"/>
              </a:rPr>
              <a:t> </a:t>
            </a:r>
            <a:r>
              <a:rPr lang="en-US" b="true" sz="3999">
                <a:solidFill>
                  <a:srgbClr val="00FFF7"/>
                </a:solidFill>
                <a:latin typeface="DM Sans Bold"/>
                <a:ea typeface="DM Sans Bold"/>
                <a:cs typeface="DM Sans Bold"/>
                <a:sym typeface="DM Sans Bold"/>
              </a:rPr>
              <a:t>Global Issue:</a:t>
            </a:r>
          </a:p>
          <a:p>
            <a:pPr algn="l" marL="755651" indent="-377825" lvl="1">
              <a:lnSpc>
                <a:spcPts val="490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50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~</a:t>
            </a:r>
            <a:r>
              <a:rPr lang="en-US" sz="35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39 million people are blind worldwide</a:t>
            </a:r>
          </a:p>
          <a:p>
            <a:pPr algn="l" marL="755651" indent="-377825" lvl="1">
              <a:lnSpc>
                <a:spcPts val="4900"/>
              </a:lnSpc>
              <a:spcBef>
                <a:spcPct val="0"/>
              </a:spcBef>
              <a:buFont typeface="Arial"/>
              <a:buChar char="•"/>
            </a:pPr>
            <a:r>
              <a:rPr lang="en-US" sz="35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~285 million have moderate-to-severe visual impairment</a:t>
            </a:r>
          </a:p>
          <a:p>
            <a:pPr algn="l" marL="755651" indent="-377825" lvl="1">
              <a:lnSpc>
                <a:spcPts val="4900"/>
              </a:lnSpc>
              <a:spcBef>
                <a:spcPct val="0"/>
              </a:spcBef>
              <a:buFont typeface="Arial"/>
              <a:buChar char="•"/>
            </a:pPr>
            <a:r>
              <a:rPr lang="en-US" sz="35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at least 2.2 billion people have a near or distance vision impairment - WHO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-573913" y="6364892"/>
            <a:ext cx="4064756" cy="3362662"/>
          </a:xfrm>
          <a:custGeom>
            <a:avLst/>
            <a:gdLst/>
            <a:ahLst/>
            <a:cxnLst/>
            <a:rect r="r" b="b" t="t" l="l"/>
            <a:pathLst>
              <a:path h="3362662" w="4064756">
                <a:moveTo>
                  <a:pt x="0" y="0"/>
                </a:moveTo>
                <a:lnTo>
                  <a:pt x="4064755" y="0"/>
                </a:lnTo>
                <a:lnTo>
                  <a:pt x="4064755" y="3362661"/>
                </a:lnTo>
                <a:lnTo>
                  <a:pt x="0" y="33626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0">
            <a:off x="11310430" y="237350"/>
            <a:ext cx="6726332" cy="6726332"/>
          </a:xfrm>
          <a:custGeom>
            <a:avLst/>
            <a:gdLst/>
            <a:ahLst/>
            <a:cxnLst/>
            <a:rect r="r" b="b" t="t" l="l"/>
            <a:pathLst>
              <a:path h="6726332" w="6726332">
                <a:moveTo>
                  <a:pt x="0" y="6726332"/>
                </a:moveTo>
                <a:lnTo>
                  <a:pt x="6726332" y="6726332"/>
                </a:lnTo>
                <a:lnTo>
                  <a:pt x="6726332" y="0"/>
                </a:lnTo>
                <a:lnTo>
                  <a:pt x="0" y="0"/>
                </a:lnTo>
                <a:lnTo>
                  <a:pt x="0" y="6726332"/>
                </a:lnTo>
                <a:close/>
              </a:path>
            </a:pathLst>
          </a:custGeom>
          <a:blipFill>
            <a:blip r:embed="rId5">
              <a:alphaModFix amt="44999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AutoShape 8" id="8"/>
          <p:cNvSpPr/>
          <p:nvPr/>
        </p:nvSpPr>
        <p:spPr>
          <a:xfrm>
            <a:off x="7399912" y="1430036"/>
            <a:ext cx="3257153" cy="0"/>
          </a:xfrm>
          <a:prstGeom prst="line">
            <a:avLst/>
          </a:prstGeom>
          <a:ln cap="flat" w="38100">
            <a:gradFill>
              <a:gsLst>
                <a:gs pos="0">
                  <a:srgbClr val="FFFBFB">
                    <a:alpha val="0"/>
                  </a:srgbClr>
                </a:gs>
                <a:gs pos="50000">
                  <a:srgbClr val="FFFFFF">
                    <a:alpha val="10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7399912" y="245761"/>
            <a:ext cx="3257153" cy="118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>
                <a:solidFill>
                  <a:srgbClr val="66FFFF"/>
                </a:solidFill>
                <a:latin typeface="Anton"/>
                <a:ea typeface="Anton"/>
                <a:cs typeface="Anton"/>
                <a:sym typeface="Anton"/>
              </a:rPr>
              <a:t>OVERVIEW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9C9">
                <a:alpha val="100000"/>
              </a:srgbClr>
            </a:gs>
            <a:gs pos="100000">
              <a:srgbClr val="00FFF7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018177" y="1102127"/>
            <a:ext cx="14251647" cy="8082746"/>
          </a:xfrm>
          <a:custGeom>
            <a:avLst/>
            <a:gdLst/>
            <a:ahLst/>
            <a:cxnLst/>
            <a:rect r="r" b="b" t="t" l="l"/>
            <a:pathLst>
              <a:path h="8082746" w="14251647">
                <a:moveTo>
                  <a:pt x="0" y="0"/>
                </a:moveTo>
                <a:lnTo>
                  <a:pt x="14251646" y="0"/>
                </a:lnTo>
                <a:lnTo>
                  <a:pt x="14251646" y="8082746"/>
                </a:lnTo>
                <a:lnTo>
                  <a:pt x="0" y="80827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push dir="l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9C9">
                <a:alpha val="100000"/>
              </a:srgbClr>
            </a:gs>
            <a:gs pos="100000">
              <a:srgbClr val="00FFF7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34359" y="5882231"/>
            <a:ext cx="10895964" cy="3813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b="true" sz="3500">
                <a:solidFill>
                  <a:srgbClr val="00FFF7"/>
                </a:solidFill>
                <a:latin typeface="DM Sans Bold"/>
                <a:ea typeface="DM Sans Bold"/>
                <a:cs typeface="DM Sans Bold"/>
                <a:sym typeface="DM Sans Bold"/>
              </a:rPr>
              <a:t>Existing assistive apps have major limitations:</a:t>
            </a:r>
          </a:p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FBFFFF"/>
                </a:solidFill>
                <a:latin typeface="DM Sans"/>
                <a:ea typeface="DM Sans"/>
                <a:cs typeface="DM Sans"/>
                <a:sym typeface="DM Sans"/>
              </a:rPr>
              <a:t>Heavy dependence on internet connectivity</a:t>
            </a:r>
          </a:p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FBFFFF"/>
                </a:solidFill>
                <a:latin typeface="DM Sans"/>
                <a:ea typeface="DM Sans"/>
                <a:cs typeface="DM Sans"/>
                <a:sym typeface="DM Sans"/>
              </a:rPr>
              <a:t>Limited support for local environments and currencies</a:t>
            </a:r>
          </a:p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FBFFFF"/>
                </a:solidFill>
                <a:latin typeface="DM Sans"/>
                <a:ea typeface="DM Sans"/>
                <a:cs typeface="DM Sans"/>
                <a:sym typeface="DM Sans"/>
              </a:rPr>
              <a:t>Fragmented features (users need multiple apps)</a:t>
            </a:r>
          </a:p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FBFFFF"/>
                </a:solidFill>
                <a:latin typeface="DM Sans"/>
                <a:ea typeface="DM Sans"/>
                <a:cs typeface="DM Sans"/>
                <a:sym typeface="DM Sans"/>
              </a:rPr>
              <a:t>Privacy and latency issues (cloud processing)</a:t>
            </a:r>
          </a:p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FBFFFF"/>
                </a:solidFill>
                <a:latin typeface="DM Sans"/>
                <a:ea typeface="DM Sans"/>
                <a:cs typeface="DM Sans"/>
                <a:sym typeface="DM Sans"/>
              </a:rPr>
              <a:t>Lack of personalization</a:t>
            </a:r>
          </a:p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FBFFFF"/>
                </a:solidFill>
                <a:latin typeface="DM Sans"/>
                <a:ea typeface="DM Sans"/>
                <a:cs typeface="DM Sans"/>
                <a:sym typeface="DM Sans"/>
              </a:rPr>
              <a:t>Limited Languagages Support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34359" y="1666735"/>
            <a:ext cx="17419281" cy="3813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b="true" sz="3500">
                <a:solidFill>
                  <a:srgbClr val="00FFFF"/>
                </a:solidFill>
                <a:latin typeface="DM Sans Bold"/>
                <a:ea typeface="DM Sans Bold"/>
                <a:cs typeface="DM Sans Bold"/>
                <a:sym typeface="DM Sans Bold"/>
              </a:rPr>
              <a:t>Visually impaired individuals face serious daily challenges:</a:t>
            </a:r>
          </a:p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000">
                <a:solidFill>
                  <a:srgbClr val="FBFFFF"/>
                </a:solidFill>
                <a:latin typeface="DM Sans Bold"/>
                <a:ea typeface="DM Sans Bold"/>
                <a:cs typeface="DM Sans Bold"/>
                <a:sym typeface="DM Sans Bold"/>
              </a:rPr>
              <a:t>I</a:t>
            </a:r>
            <a:r>
              <a:rPr lang="en-US" sz="3000">
                <a:solidFill>
                  <a:srgbClr val="FBFFFF"/>
                </a:solidFill>
                <a:latin typeface="DM Sans"/>
                <a:ea typeface="DM Sans"/>
                <a:cs typeface="DM Sans"/>
                <a:sym typeface="DM Sans"/>
              </a:rPr>
              <a:t>dentifying nearby objects and obstacles</a:t>
            </a:r>
          </a:p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FBFFFF"/>
                </a:solidFill>
                <a:latin typeface="DM Sans"/>
                <a:ea typeface="DM Sans"/>
                <a:cs typeface="DM Sans"/>
                <a:sym typeface="DM Sans"/>
              </a:rPr>
              <a:t>Recognizing familiar people</a:t>
            </a:r>
          </a:p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FBFFFF"/>
                </a:solidFill>
                <a:latin typeface="DM Sans"/>
                <a:ea typeface="DM Sans"/>
                <a:cs typeface="DM Sans"/>
                <a:sym typeface="DM Sans"/>
              </a:rPr>
              <a:t>Understanding Surroundings (Indoor &amp; Outdoor)</a:t>
            </a:r>
          </a:p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FBFFFF"/>
                </a:solidFill>
                <a:latin typeface="DM Sans"/>
                <a:ea typeface="DM Sans"/>
                <a:cs typeface="DM Sans"/>
                <a:sym typeface="DM Sans"/>
              </a:rPr>
              <a:t>Distinguishing currency denominations</a:t>
            </a:r>
          </a:p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FBFFFF"/>
                </a:solidFill>
                <a:latin typeface="DM Sans"/>
                <a:ea typeface="DM Sans"/>
                <a:cs typeface="DM Sans"/>
                <a:sym typeface="DM Sans"/>
              </a:rPr>
              <a:t>Reading printed text (medicine, bills, signs)</a:t>
            </a:r>
          </a:p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FBFFFF"/>
                </a:solidFill>
                <a:latin typeface="DM Sans"/>
                <a:ea typeface="DM Sans"/>
                <a:cs typeface="DM Sans"/>
                <a:sym typeface="DM Sans"/>
              </a:rPr>
              <a:t>Identifying colors (clothes, food, surroundings)</a:t>
            </a:r>
          </a:p>
        </p:txBody>
      </p:sp>
      <p:sp>
        <p:nvSpPr>
          <p:cNvPr name="AutoShape 4" id="4"/>
          <p:cNvSpPr/>
          <p:nvPr/>
        </p:nvSpPr>
        <p:spPr>
          <a:xfrm>
            <a:off x="5339830" y="1430036"/>
            <a:ext cx="7202193" cy="0"/>
          </a:xfrm>
          <a:prstGeom prst="line">
            <a:avLst/>
          </a:prstGeom>
          <a:ln cap="flat" w="38100">
            <a:gradFill>
              <a:gsLst>
                <a:gs pos="0">
                  <a:srgbClr val="FFFBFB">
                    <a:alpha val="0"/>
                  </a:srgbClr>
                </a:gs>
                <a:gs pos="50000">
                  <a:srgbClr val="FFFFFF">
                    <a:alpha val="10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true" rot="0">
            <a:off x="11310430" y="237350"/>
            <a:ext cx="6726332" cy="6726332"/>
          </a:xfrm>
          <a:custGeom>
            <a:avLst/>
            <a:gdLst/>
            <a:ahLst/>
            <a:cxnLst/>
            <a:rect r="r" b="b" t="t" l="l"/>
            <a:pathLst>
              <a:path h="6726332" w="6726332">
                <a:moveTo>
                  <a:pt x="0" y="6726332"/>
                </a:moveTo>
                <a:lnTo>
                  <a:pt x="6726332" y="6726332"/>
                </a:lnTo>
                <a:lnTo>
                  <a:pt x="6726332" y="0"/>
                </a:lnTo>
                <a:lnTo>
                  <a:pt x="0" y="0"/>
                </a:lnTo>
                <a:lnTo>
                  <a:pt x="0" y="6726332"/>
                </a:lnTo>
                <a:close/>
              </a:path>
            </a:pathLst>
          </a:custGeom>
          <a:blipFill>
            <a:blip r:embed="rId2">
              <a:alphaModFix amt="44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6" id="6"/>
          <p:cNvSpPr txBox="true"/>
          <p:nvPr/>
        </p:nvSpPr>
        <p:spPr>
          <a:xfrm rot="0">
            <a:off x="5514954" y="245761"/>
            <a:ext cx="7027069" cy="118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>
                <a:solidFill>
                  <a:srgbClr val="66FFFF"/>
                </a:solidFill>
                <a:latin typeface="Anton"/>
                <a:ea typeface="Anton"/>
                <a:cs typeface="Anton"/>
                <a:sym typeface="Anton"/>
              </a:rPr>
              <a:t>PROBLEM STATEMENT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9C9">
                <a:alpha val="100000"/>
              </a:srgbClr>
            </a:gs>
            <a:gs pos="100000">
              <a:srgbClr val="00FFF7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2489685" y="1431037"/>
            <a:ext cx="5120994" cy="8187636"/>
          </a:xfrm>
          <a:custGeom>
            <a:avLst/>
            <a:gdLst/>
            <a:ahLst/>
            <a:cxnLst/>
            <a:rect r="r" b="b" t="t" l="l"/>
            <a:pathLst>
              <a:path h="8187636" w="5120994">
                <a:moveTo>
                  <a:pt x="0" y="0"/>
                </a:moveTo>
                <a:lnTo>
                  <a:pt x="5120994" y="0"/>
                </a:lnTo>
                <a:lnTo>
                  <a:pt x="5120994" y="8187635"/>
                </a:lnTo>
                <a:lnTo>
                  <a:pt x="0" y="81876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11265218" y="1345471"/>
            <a:ext cx="5158206" cy="8247132"/>
          </a:xfrm>
          <a:custGeom>
            <a:avLst/>
            <a:gdLst/>
            <a:ahLst/>
            <a:cxnLst/>
            <a:rect r="r" b="b" t="t" l="l"/>
            <a:pathLst>
              <a:path h="8247132" w="5158206">
                <a:moveTo>
                  <a:pt x="0" y="0"/>
                </a:moveTo>
                <a:lnTo>
                  <a:pt x="5158206" y="0"/>
                </a:lnTo>
                <a:lnTo>
                  <a:pt x="5158206" y="8247131"/>
                </a:lnTo>
                <a:lnTo>
                  <a:pt x="0" y="82471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814891" y="3775943"/>
            <a:ext cx="5917840" cy="606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Social Impact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57838" y="4753893"/>
            <a:ext cx="6293839" cy="2752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Empowers independence</a:t>
            </a:r>
          </a:p>
          <a:p>
            <a:pPr algn="l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Reduces reliance on others</a:t>
            </a:r>
          </a:p>
          <a:p>
            <a:pPr algn="l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Especially vital in Egypt (limited Internet &amp; public support)</a:t>
            </a:r>
          </a:p>
          <a:p>
            <a:pPr algn="l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Improves safety, confidence, and quality of life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662394" y="3813831"/>
            <a:ext cx="6293839" cy="512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0"/>
              </a:lnSpc>
            </a:pPr>
            <a:r>
              <a:rPr lang="en-US" sz="35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Technological Impact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431787" y="4638806"/>
            <a:ext cx="7130319" cy="2295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Shows offline AI on mobile is feasible</a:t>
            </a:r>
          </a:p>
          <a:p>
            <a:pPr algn="l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Focuses on privacy and real-time response</a:t>
            </a:r>
          </a:p>
          <a:p>
            <a:pPr algn="l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Addresses local needs (Arabic + EGP)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432702" y="245761"/>
            <a:ext cx="7191574" cy="2422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>
                <a:solidFill>
                  <a:srgbClr val="66FFFF"/>
                </a:solidFill>
                <a:latin typeface="Anton"/>
                <a:ea typeface="Anton"/>
                <a:cs typeface="Anton"/>
                <a:sym typeface="Anton"/>
              </a:rPr>
              <a:t>PROJECT IMPORTANCE</a:t>
            </a:r>
          </a:p>
          <a:p>
            <a:pPr algn="ctr">
              <a:lnSpc>
                <a:spcPts val="9799"/>
              </a:lnSpc>
            </a:pPr>
          </a:p>
        </p:txBody>
      </p:sp>
      <p:sp>
        <p:nvSpPr>
          <p:cNvPr name="AutoShape 9" id="9"/>
          <p:cNvSpPr/>
          <p:nvPr/>
        </p:nvSpPr>
        <p:spPr>
          <a:xfrm flipV="true">
            <a:off x="5432702" y="1518936"/>
            <a:ext cx="7191574" cy="0"/>
          </a:xfrm>
          <a:prstGeom prst="line">
            <a:avLst/>
          </a:prstGeom>
          <a:ln cap="flat" w="38100">
            <a:gradFill>
              <a:gsLst>
                <a:gs pos="0">
                  <a:srgbClr val="FFFBFB">
                    <a:alpha val="0"/>
                  </a:srgbClr>
                </a:gs>
                <a:gs pos="50000">
                  <a:srgbClr val="FFFFFF">
                    <a:alpha val="10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Freeform 10" id="10"/>
          <p:cNvSpPr/>
          <p:nvPr/>
        </p:nvSpPr>
        <p:spPr>
          <a:xfrm flipH="false" flipV="true" rot="0">
            <a:off x="11272330" y="237350"/>
            <a:ext cx="6726332" cy="6726332"/>
          </a:xfrm>
          <a:custGeom>
            <a:avLst/>
            <a:gdLst/>
            <a:ahLst/>
            <a:cxnLst/>
            <a:rect r="r" b="b" t="t" l="l"/>
            <a:pathLst>
              <a:path h="6726332" w="6726332">
                <a:moveTo>
                  <a:pt x="0" y="6726332"/>
                </a:moveTo>
                <a:lnTo>
                  <a:pt x="6726332" y="6726332"/>
                </a:lnTo>
                <a:lnTo>
                  <a:pt x="6726332" y="0"/>
                </a:lnTo>
                <a:lnTo>
                  <a:pt x="0" y="0"/>
                </a:lnTo>
                <a:lnTo>
                  <a:pt x="0" y="6726332"/>
                </a:lnTo>
                <a:close/>
              </a:path>
            </a:pathLst>
          </a:custGeom>
          <a:blipFill>
            <a:blip r:embed="rId4">
              <a:alphaModFix amt="44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  <p:transition spd="slow">
    <p:push dir="l"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9C9">
                <a:alpha val="100000"/>
              </a:srgbClr>
            </a:gs>
            <a:gs pos="100000">
              <a:srgbClr val="00FFF7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794462" y="3086551"/>
            <a:ext cx="8239699" cy="4573033"/>
          </a:xfrm>
          <a:custGeom>
            <a:avLst/>
            <a:gdLst/>
            <a:ahLst/>
            <a:cxnLst/>
            <a:rect r="r" b="b" t="t" l="l"/>
            <a:pathLst>
              <a:path h="4573033" w="8239699">
                <a:moveTo>
                  <a:pt x="0" y="0"/>
                </a:moveTo>
                <a:lnTo>
                  <a:pt x="8239700" y="0"/>
                </a:lnTo>
                <a:lnTo>
                  <a:pt x="8239700" y="4573033"/>
                </a:lnTo>
                <a:lnTo>
                  <a:pt x="0" y="45730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00356" y="2391743"/>
            <a:ext cx="9144000" cy="5953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Develop a fully offline mobile assistant using phone camera + voice feedback </a:t>
            </a:r>
          </a:p>
          <a:p>
            <a:pPr algn="l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Detect and describe surrounding objects in real time </a:t>
            </a:r>
          </a:p>
          <a:p>
            <a:pPr algn="l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Recognize familiar people using user-added face photos </a:t>
            </a:r>
          </a:p>
          <a:p>
            <a:pPr algn="l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Identify Egyptian currency denominations </a:t>
            </a:r>
          </a:p>
          <a:p>
            <a:pPr algn="l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Read printed text aloud (offline OCR) </a:t>
            </a:r>
          </a:p>
          <a:p>
            <a:pPr algn="l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Detect dominant colors for daily tasks </a:t>
            </a:r>
          </a:p>
          <a:p>
            <a:pPr algn="l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Provide voice-based interaction only (hold-to-speak) </a:t>
            </a:r>
          </a:p>
          <a:p>
            <a:pPr algn="l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Ensure fast, secure, and efficient operation on mobile devices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452621" y="245761"/>
            <a:ext cx="5094586" cy="2422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>
                <a:solidFill>
                  <a:srgbClr val="66FFFF"/>
                </a:solidFill>
                <a:latin typeface="Anton"/>
                <a:ea typeface="Anton"/>
                <a:cs typeface="Anton"/>
                <a:sym typeface="Anton"/>
              </a:rPr>
              <a:t>PROJECT GOALS</a:t>
            </a:r>
          </a:p>
          <a:p>
            <a:pPr algn="ctr">
              <a:lnSpc>
                <a:spcPts val="9799"/>
              </a:lnSpc>
            </a:pPr>
          </a:p>
        </p:txBody>
      </p:sp>
      <p:sp>
        <p:nvSpPr>
          <p:cNvPr name="AutoShape 5" id="5"/>
          <p:cNvSpPr/>
          <p:nvPr/>
        </p:nvSpPr>
        <p:spPr>
          <a:xfrm>
            <a:off x="6084208" y="1518936"/>
            <a:ext cx="5462999" cy="0"/>
          </a:xfrm>
          <a:prstGeom prst="line">
            <a:avLst/>
          </a:prstGeom>
          <a:ln cap="flat" w="38100">
            <a:gradFill>
              <a:gsLst>
                <a:gs pos="0">
                  <a:srgbClr val="FFFBFB">
                    <a:alpha val="0"/>
                  </a:srgbClr>
                </a:gs>
                <a:gs pos="50000">
                  <a:srgbClr val="FFFFFF">
                    <a:alpha val="10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true" rot="0">
            <a:off x="11281855" y="237350"/>
            <a:ext cx="6726332" cy="6726332"/>
          </a:xfrm>
          <a:custGeom>
            <a:avLst/>
            <a:gdLst/>
            <a:ahLst/>
            <a:cxnLst/>
            <a:rect r="r" b="b" t="t" l="l"/>
            <a:pathLst>
              <a:path h="6726332" w="6726332">
                <a:moveTo>
                  <a:pt x="0" y="6726332"/>
                </a:moveTo>
                <a:lnTo>
                  <a:pt x="6726332" y="6726332"/>
                </a:lnTo>
                <a:lnTo>
                  <a:pt x="6726332" y="0"/>
                </a:lnTo>
                <a:lnTo>
                  <a:pt x="0" y="0"/>
                </a:lnTo>
                <a:lnTo>
                  <a:pt x="0" y="6726332"/>
                </a:lnTo>
                <a:close/>
              </a:path>
            </a:pathLst>
          </a:custGeom>
          <a:blipFill>
            <a:blip r:embed="rId3">
              <a:alphaModFix amt="44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  <p:transition spd="fast">
    <p:fade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9C9">
                <a:alpha val="100000"/>
              </a:srgbClr>
            </a:gs>
            <a:gs pos="100000">
              <a:srgbClr val="00FFF7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949580" y="245761"/>
            <a:ext cx="10119717" cy="118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>
                <a:solidFill>
                  <a:srgbClr val="66FFFF"/>
                </a:solidFill>
                <a:latin typeface="Anton"/>
                <a:ea typeface="Anton"/>
                <a:cs typeface="Anton"/>
                <a:sym typeface="Anton"/>
              </a:rPr>
              <a:t>FEATURE MATRIX COMPARISON 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2163892" y="1968008"/>
            <a:ext cx="14107221" cy="7290292"/>
            <a:chOff x="0" y="0"/>
            <a:chExt cx="2085699" cy="107784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85699" cy="1077842"/>
            </a:xfrm>
            <a:custGeom>
              <a:avLst/>
              <a:gdLst/>
              <a:ahLst/>
              <a:cxnLst/>
              <a:rect r="r" b="b" t="t" l="l"/>
              <a:pathLst>
                <a:path h="1077842" w="2085699">
                  <a:moveTo>
                    <a:pt x="12622" y="0"/>
                  </a:moveTo>
                  <a:lnTo>
                    <a:pt x="2073077" y="0"/>
                  </a:lnTo>
                  <a:cubicBezTo>
                    <a:pt x="2076424" y="0"/>
                    <a:pt x="2079635" y="1330"/>
                    <a:pt x="2082002" y="3697"/>
                  </a:cubicBezTo>
                  <a:cubicBezTo>
                    <a:pt x="2084369" y="6064"/>
                    <a:pt x="2085699" y="9275"/>
                    <a:pt x="2085699" y="12622"/>
                  </a:cubicBezTo>
                  <a:lnTo>
                    <a:pt x="2085699" y="1065220"/>
                  </a:lnTo>
                  <a:cubicBezTo>
                    <a:pt x="2085699" y="1072191"/>
                    <a:pt x="2080048" y="1077842"/>
                    <a:pt x="2073077" y="1077842"/>
                  </a:cubicBezTo>
                  <a:lnTo>
                    <a:pt x="12622" y="1077842"/>
                  </a:lnTo>
                  <a:cubicBezTo>
                    <a:pt x="9275" y="1077842"/>
                    <a:pt x="6064" y="1076512"/>
                    <a:pt x="3697" y="1074145"/>
                  </a:cubicBezTo>
                  <a:cubicBezTo>
                    <a:pt x="1330" y="1071778"/>
                    <a:pt x="0" y="1068567"/>
                    <a:pt x="0" y="1065220"/>
                  </a:cubicBezTo>
                  <a:lnTo>
                    <a:pt x="0" y="12622"/>
                  </a:lnTo>
                  <a:cubicBezTo>
                    <a:pt x="0" y="9275"/>
                    <a:pt x="1330" y="6064"/>
                    <a:pt x="3697" y="3697"/>
                  </a:cubicBezTo>
                  <a:cubicBezTo>
                    <a:pt x="6064" y="1330"/>
                    <a:pt x="9275" y="0"/>
                    <a:pt x="12622" y="0"/>
                  </a:cubicBezTo>
                  <a:close/>
                </a:path>
              </a:pathLst>
            </a:custGeom>
            <a:blipFill>
              <a:blip r:embed="rId2"/>
              <a:stretch>
                <a:fillRect l="-1677" t="0" r="-1677" b="0"/>
              </a:stretch>
            </a:blipFill>
          </p:spPr>
        </p:sp>
      </p:grpSp>
      <p:sp>
        <p:nvSpPr>
          <p:cNvPr name="AutoShape 5" id="5"/>
          <p:cNvSpPr/>
          <p:nvPr/>
        </p:nvSpPr>
        <p:spPr>
          <a:xfrm flipV="true">
            <a:off x="3876769" y="1414635"/>
            <a:ext cx="10192529" cy="15401"/>
          </a:xfrm>
          <a:prstGeom prst="line">
            <a:avLst/>
          </a:prstGeom>
          <a:ln cap="flat" w="38100">
            <a:gradFill>
              <a:gsLst>
                <a:gs pos="0">
                  <a:srgbClr val="FFFBFB">
                    <a:alpha val="0"/>
                  </a:srgbClr>
                </a:gs>
                <a:gs pos="50000">
                  <a:srgbClr val="FFFFFF">
                    <a:alpha val="10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  <p:transition spd="fast">
    <p:fade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9C9">
                <a:alpha val="100000"/>
              </a:srgbClr>
            </a:gs>
            <a:gs pos="100000">
              <a:srgbClr val="00FFF7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14350" y="2262950"/>
            <a:ext cx="17518023" cy="159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Most popular apps cover object detection, text reading, and currency recognition.</a:t>
            </a:r>
          </a:p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Few apps support face recognition, color detection, offline voice commands, or Arabic language.</a:t>
            </a:r>
          </a:p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Existing apps often require internet, limiting privacy and usability in rural areas.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4561072"/>
            <a:ext cx="9454158" cy="2736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9"/>
              </a:lnSpc>
              <a:spcBef>
                <a:spcPct val="0"/>
              </a:spcBef>
            </a:pPr>
            <a:r>
              <a:rPr lang="en-US" b="true" sz="3499">
                <a:solidFill>
                  <a:srgbClr val="00FFF7"/>
                </a:solidFill>
                <a:latin typeface="DM Sans Bold"/>
                <a:ea typeface="DM Sans Bold"/>
                <a:cs typeface="DM Sans Bold"/>
                <a:sym typeface="DM Sans Bold"/>
              </a:rPr>
              <a:t>Our app stands out:</a:t>
            </a:r>
          </a:p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FBFFFF"/>
                </a:solidFill>
                <a:latin typeface="DM Sans"/>
                <a:ea typeface="DM Sans"/>
                <a:cs typeface="DM Sans"/>
                <a:sym typeface="DM Sans"/>
              </a:rPr>
              <a:t>Fully offline operation</a:t>
            </a:r>
          </a:p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FBFFFF"/>
                </a:solidFill>
                <a:latin typeface="DM Sans"/>
                <a:ea typeface="DM Sans"/>
                <a:cs typeface="DM Sans"/>
                <a:sym typeface="DM Sans"/>
              </a:rPr>
              <a:t>Supports face recognition with user-labeled faces</a:t>
            </a:r>
          </a:p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FBFFFF"/>
                </a:solidFill>
                <a:latin typeface="DM Sans"/>
                <a:ea typeface="DM Sans"/>
                <a:cs typeface="DM Sans"/>
                <a:sym typeface="DM Sans"/>
              </a:rPr>
              <a:t>Includes color identification and voice commands</a:t>
            </a:r>
          </a:p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FBFFFF"/>
                </a:solidFill>
                <a:latin typeface="DM Sans"/>
                <a:ea typeface="DM Sans"/>
                <a:cs typeface="DM Sans"/>
                <a:sym typeface="DM Sans"/>
              </a:rPr>
              <a:t>Provides Arabic language support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588598" y="245761"/>
            <a:ext cx="8917881" cy="118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>
                <a:solidFill>
                  <a:srgbClr val="66FFFF"/>
                </a:solidFill>
                <a:latin typeface="Anton"/>
                <a:ea typeface="Anton"/>
                <a:cs typeface="Anton"/>
                <a:sym typeface="Anton"/>
              </a:rPr>
              <a:t>FEATURE MATRIX ANALYSIS </a:t>
            </a:r>
          </a:p>
        </p:txBody>
      </p:sp>
      <p:sp>
        <p:nvSpPr>
          <p:cNvPr name="AutoShape 5" id="5"/>
          <p:cNvSpPr/>
          <p:nvPr/>
        </p:nvSpPr>
        <p:spPr>
          <a:xfrm>
            <a:off x="4374805" y="1430036"/>
            <a:ext cx="9131673" cy="0"/>
          </a:xfrm>
          <a:prstGeom prst="line">
            <a:avLst/>
          </a:prstGeom>
          <a:ln cap="flat" w="38100">
            <a:gradFill>
              <a:gsLst>
                <a:gs pos="0">
                  <a:srgbClr val="FFFBFB">
                    <a:alpha val="0"/>
                  </a:srgbClr>
                </a:gs>
                <a:gs pos="50000">
                  <a:srgbClr val="FFFFFF">
                    <a:alpha val="10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true" rot="0">
            <a:off x="11310430" y="237350"/>
            <a:ext cx="6726332" cy="6726332"/>
          </a:xfrm>
          <a:custGeom>
            <a:avLst/>
            <a:gdLst/>
            <a:ahLst/>
            <a:cxnLst/>
            <a:rect r="r" b="b" t="t" l="l"/>
            <a:pathLst>
              <a:path h="6726332" w="6726332">
                <a:moveTo>
                  <a:pt x="0" y="6726332"/>
                </a:moveTo>
                <a:lnTo>
                  <a:pt x="6726332" y="6726332"/>
                </a:lnTo>
                <a:lnTo>
                  <a:pt x="6726332" y="0"/>
                </a:lnTo>
                <a:lnTo>
                  <a:pt x="0" y="0"/>
                </a:lnTo>
                <a:lnTo>
                  <a:pt x="0" y="6726332"/>
                </a:lnTo>
                <a:close/>
              </a:path>
            </a:pathLst>
          </a:custGeom>
          <a:blipFill>
            <a:blip r:embed="rId2">
              <a:alphaModFix amt="44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  <p:transition spd="slow">
    <p:push dir="l"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9C9">
                <a:alpha val="100000"/>
              </a:srgbClr>
            </a:gs>
            <a:gs pos="100000">
              <a:srgbClr val="00FFF7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55701" y="5174570"/>
            <a:ext cx="15765917" cy="2657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Modular project → 5 independent modules (Object, Currency, Color, Text, Face)</a:t>
            </a:r>
          </a:p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AI models need experimentation → multiple training &amp; testing cycles</a:t>
            </a:r>
          </a:p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Early risk detection → identify issues (speed, accuracy, integration) quickly</a:t>
            </a:r>
          </a:p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Fits academic timeline → tangible progress each semester</a:t>
            </a:r>
          </a:p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Supports team collaboration → parallel work + GitHub branching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460058" y="245761"/>
            <a:ext cx="13174961" cy="118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>
                <a:solidFill>
                  <a:srgbClr val="66FFFF"/>
                </a:solidFill>
                <a:latin typeface="Anton"/>
                <a:ea typeface="Anton"/>
                <a:cs typeface="Anton"/>
                <a:sym typeface="Anton"/>
              </a:rPr>
              <a:t>SOFTWARE DEVELOPMENT METHODOLOGY</a:t>
            </a:r>
          </a:p>
        </p:txBody>
      </p:sp>
      <p:sp>
        <p:nvSpPr>
          <p:cNvPr name="AutoShape 4" id="4"/>
          <p:cNvSpPr/>
          <p:nvPr/>
        </p:nvSpPr>
        <p:spPr>
          <a:xfrm>
            <a:off x="2460058" y="1430036"/>
            <a:ext cx="13174961" cy="0"/>
          </a:xfrm>
          <a:prstGeom prst="line">
            <a:avLst/>
          </a:prstGeom>
          <a:ln cap="flat" w="38100">
            <a:gradFill>
              <a:gsLst>
                <a:gs pos="0">
                  <a:srgbClr val="FFFBFB">
                    <a:alpha val="0"/>
                  </a:srgbClr>
                </a:gs>
                <a:gs pos="50000">
                  <a:srgbClr val="FFFFFF">
                    <a:alpha val="10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true" rot="0">
            <a:off x="11310430" y="237350"/>
            <a:ext cx="6726332" cy="6726332"/>
          </a:xfrm>
          <a:custGeom>
            <a:avLst/>
            <a:gdLst/>
            <a:ahLst/>
            <a:cxnLst/>
            <a:rect r="r" b="b" t="t" l="l"/>
            <a:pathLst>
              <a:path h="6726332" w="6726332">
                <a:moveTo>
                  <a:pt x="0" y="6726332"/>
                </a:moveTo>
                <a:lnTo>
                  <a:pt x="6726332" y="6726332"/>
                </a:lnTo>
                <a:lnTo>
                  <a:pt x="6726332" y="0"/>
                </a:lnTo>
                <a:lnTo>
                  <a:pt x="0" y="0"/>
                </a:lnTo>
                <a:lnTo>
                  <a:pt x="0" y="6726332"/>
                </a:lnTo>
                <a:close/>
              </a:path>
            </a:pathLst>
          </a:custGeom>
          <a:blipFill>
            <a:blip r:embed="rId2">
              <a:alphaModFix amt="44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6" id="6"/>
          <p:cNvSpPr txBox="true"/>
          <p:nvPr/>
        </p:nvSpPr>
        <p:spPr>
          <a:xfrm rot="0">
            <a:off x="1028700" y="4243528"/>
            <a:ext cx="6838652" cy="606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b="true" sz="3500">
                <a:solidFill>
                  <a:srgbClr val="66FFFF"/>
                </a:solidFill>
                <a:latin typeface="DM Sans Bold"/>
                <a:ea typeface="DM Sans Bold"/>
                <a:cs typeface="DM Sans Bold"/>
                <a:sym typeface="DM Sans Bold"/>
              </a:rPr>
              <a:t>Justification – Why We Chose It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2273220"/>
            <a:ext cx="7110314" cy="1146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b="true" sz="3500">
                <a:solidFill>
                  <a:srgbClr val="66FFFF"/>
                </a:solidFill>
                <a:latin typeface="DM Sans Bold"/>
                <a:ea typeface="DM Sans Bold"/>
                <a:cs typeface="DM Sans Bold"/>
                <a:sym typeface="DM Sans Bold"/>
              </a:rPr>
              <a:t>Sele</a:t>
            </a:r>
            <a:r>
              <a:rPr lang="en-US" b="true" sz="3500">
                <a:solidFill>
                  <a:srgbClr val="66FFFF"/>
                </a:solidFill>
                <a:latin typeface="DM Sans Bold"/>
                <a:ea typeface="DM Sans Bold"/>
                <a:cs typeface="DM Sans Bold"/>
                <a:sym typeface="DM Sans Bold"/>
              </a:rPr>
              <a:t>cted Methodology:</a:t>
            </a:r>
          </a:p>
          <a:p>
            <a:pPr algn="l" marL="647703" indent="-323852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00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I</a:t>
            </a:r>
            <a:r>
              <a:rPr lang="en-US" sz="3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terative &amp; Incremental Development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9C9">
                <a:alpha val="100000"/>
              </a:srgbClr>
            </a:gs>
            <a:gs pos="100000">
              <a:srgbClr val="00FFF7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389354" y="2305123"/>
            <a:ext cx="9209187" cy="606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b="true" sz="3500">
                <a:solidFill>
                  <a:srgbClr val="66FFFF"/>
                </a:solidFill>
                <a:latin typeface="DM Sans Bold"/>
                <a:ea typeface="DM Sans Bold"/>
                <a:cs typeface="DM Sans Bold"/>
                <a:sym typeface="DM Sans Bold"/>
              </a:rPr>
              <a:t>H</a:t>
            </a:r>
            <a:r>
              <a:rPr lang="en-US" b="true" sz="3500">
                <a:solidFill>
                  <a:srgbClr val="66FFFF"/>
                </a:solidFill>
                <a:latin typeface="DM Sans Bold"/>
                <a:ea typeface="DM Sans Bold"/>
                <a:cs typeface="DM Sans Bold"/>
                <a:sym typeface="DM Sans Bold"/>
              </a:rPr>
              <a:t>ow We Will Apply It Short iterative cycles: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389354" y="3248025"/>
            <a:ext cx="10288080" cy="372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AutoNum type="arabicPeriod" startAt="1"/>
            </a:pPr>
            <a:r>
              <a:rPr lang="en-US" sz="3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Build &amp; test Object Detection</a:t>
            </a:r>
          </a:p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AutoNum type="arabicPeriod" startAt="1"/>
            </a:pPr>
            <a:r>
              <a:rPr lang="en-US" sz="3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Currency module + basic UI</a:t>
            </a:r>
          </a:p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AutoNum type="arabicPeriod" startAt="1"/>
            </a:pPr>
            <a:r>
              <a:rPr lang="en-US" sz="3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Color &amp; Text (ML Kit) integration</a:t>
            </a:r>
          </a:p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AutoNum type="arabicPeriod" startAt="1"/>
            </a:pPr>
            <a:r>
              <a:rPr lang="en-US" sz="3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Voice commands</a:t>
            </a:r>
          </a:p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AutoNum type="arabicPeriod" startAt="1"/>
            </a:pPr>
            <a:r>
              <a:rPr lang="en-US" sz="3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Face recognition &amp; database</a:t>
            </a:r>
          </a:p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AutoNum type="arabicPeriod" startAt="1"/>
            </a:pPr>
            <a:r>
              <a:rPr lang="en-US" sz="3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Full app integration &amp; optimization</a:t>
            </a:r>
          </a:p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AutoNum type="arabicPeriod" startAt="1"/>
            </a:pPr>
            <a:r>
              <a:rPr lang="en-US" sz="3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User testing &amp; refinements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460058" y="245761"/>
            <a:ext cx="13174961" cy="118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>
                <a:solidFill>
                  <a:srgbClr val="66FFFF"/>
                </a:solidFill>
                <a:latin typeface="Anton"/>
                <a:ea typeface="Anton"/>
                <a:cs typeface="Anton"/>
                <a:sym typeface="Anton"/>
              </a:rPr>
              <a:t>SOFTWARE DEVELOPMENT METHODOLOGY</a:t>
            </a:r>
          </a:p>
        </p:txBody>
      </p:sp>
      <p:sp>
        <p:nvSpPr>
          <p:cNvPr name="AutoShape 5" id="5"/>
          <p:cNvSpPr/>
          <p:nvPr/>
        </p:nvSpPr>
        <p:spPr>
          <a:xfrm>
            <a:off x="2460058" y="1430036"/>
            <a:ext cx="13174961" cy="0"/>
          </a:xfrm>
          <a:prstGeom prst="line">
            <a:avLst/>
          </a:prstGeom>
          <a:ln cap="flat" w="38100">
            <a:gradFill>
              <a:gsLst>
                <a:gs pos="0">
                  <a:srgbClr val="FFFBFB">
                    <a:alpha val="0"/>
                  </a:srgbClr>
                </a:gs>
                <a:gs pos="50000">
                  <a:srgbClr val="FFFFFF">
                    <a:alpha val="10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true" rot="0">
            <a:off x="11310430" y="237350"/>
            <a:ext cx="6726332" cy="6726332"/>
          </a:xfrm>
          <a:custGeom>
            <a:avLst/>
            <a:gdLst/>
            <a:ahLst/>
            <a:cxnLst/>
            <a:rect r="r" b="b" t="t" l="l"/>
            <a:pathLst>
              <a:path h="6726332" w="6726332">
                <a:moveTo>
                  <a:pt x="0" y="6726332"/>
                </a:moveTo>
                <a:lnTo>
                  <a:pt x="6726332" y="6726332"/>
                </a:lnTo>
                <a:lnTo>
                  <a:pt x="6726332" y="0"/>
                </a:lnTo>
                <a:lnTo>
                  <a:pt x="0" y="0"/>
                </a:lnTo>
                <a:lnTo>
                  <a:pt x="0" y="6726332"/>
                </a:lnTo>
                <a:close/>
              </a:path>
            </a:pathLst>
          </a:custGeom>
          <a:blipFill>
            <a:blip r:embed="rId2">
              <a:alphaModFix amt="44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  <p:transition spd="fast">
    <p:cover dir="d"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9C9">
                <a:alpha val="100000"/>
              </a:srgbClr>
            </a:gs>
            <a:gs pos="100000">
              <a:srgbClr val="00FFF7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08136" y="2259193"/>
            <a:ext cx="6165255" cy="606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b="true" sz="3500">
                <a:solidFill>
                  <a:srgbClr val="00FFFF"/>
                </a:solidFill>
                <a:latin typeface="DM Sans Bold"/>
                <a:ea typeface="DM Sans Bold"/>
                <a:cs typeface="DM Sans Bold"/>
                <a:sym typeface="DM Sans Bold"/>
              </a:rPr>
              <a:t>PLANNED PRIMARY METHOD: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310393" y="4448249"/>
            <a:ext cx="4794052" cy="6388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14"/>
              </a:lnSpc>
              <a:spcBef>
                <a:spcPct val="0"/>
              </a:spcBef>
            </a:pPr>
            <a:r>
              <a:rPr lang="en-US" b="true" sz="3724">
                <a:solidFill>
                  <a:srgbClr val="00FFFF"/>
                </a:solidFill>
                <a:latin typeface="DM Sans Bold"/>
                <a:ea typeface="DM Sans Bold"/>
                <a:cs typeface="DM Sans Bold"/>
                <a:sym typeface="DM Sans Bold"/>
              </a:rPr>
              <a:t>CHAL</a:t>
            </a:r>
            <a:r>
              <a:rPr lang="en-US" b="true" sz="3724">
                <a:solidFill>
                  <a:srgbClr val="00FFFF"/>
                </a:solidFill>
                <a:latin typeface="DM Sans Bold"/>
                <a:ea typeface="DM Sans Bold"/>
                <a:cs typeface="DM Sans Bold"/>
                <a:sym typeface="DM Sans Bold"/>
              </a:rPr>
              <a:t>LENGES FACED: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68300" y="6637305"/>
            <a:ext cx="4923334" cy="606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b="true" sz="3500">
                <a:solidFill>
                  <a:srgbClr val="00FFFF"/>
                </a:solidFill>
                <a:latin typeface="DM Sans Bold"/>
                <a:ea typeface="DM Sans Bold"/>
                <a:cs typeface="DM Sans Bold"/>
                <a:sym typeface="DM Sans Bold"/>
              </a:rPr>
              <a:t>WHAT WE DID INSTEAD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71938" y="3163230"/>
            <a:ext cx="15740899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In-</a:t>
            </a:r>
            <a:r>
              <a:rPr lang="en-US" sz="3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person interviews: Taha Hussein Center for Blind Students (Alexandria University)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18401" y="5619125"/>
            <a:ext cx="15740899" cy="505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4714" indent="-322357" lvl="1">
              <a:lnSpc>
                <a:spcPts val="4180"/>
              </a:lnSpc>
              <a:spcBef>
                <a:spcPct val="0"/>
              </a:spcBef>
              <a:buFont typeface="Arial"/>
              <a:buChar char="•"/>
            </a:pPr>
            <a:r>
              <a:rPr lang="en-US" sz="298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</a:t>
            </a:r>
            <a:r>
              <a:rPr lang="en-US" sz="298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rototype not ready yet (still in early design)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18401" y="7809527"/>
            <a:ext cx="15740899" cy="1552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80"/>
              </a:lnSpc>
              <a:spcBef>
                <a:spcPct val="0"/>
              </a:spcBef>
            </a:pPr>
            <a:r>
              <a:rPr lang="en-US" sz="298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S</a:t>
            </a:r>
            <a:r>
              <a:rPr lang="en-US" sz="298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econdary data analysis:</a:t>
            </a:r>
          </a:p>
          <a:p>
            <a:pPr algn="l" marL="644714" indent="-322357" lvl="1">
              <a:lnSpc>
                <a:spcPts val="4180"/>
              </a:lnSpc>
              <a:spcBef>
                <a:spcPct val="0"/>
              </a:spcBef>
              <a:buFont typeface="Arial"/>
              <a:buChar char="•"/>
            </a:pPr>
            <a:r>
              <a:rPr lang="en-US" sz="298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user reviews (Google Play &amp; App Store)</a:t>
            </a:r>
          </a:p>
          <a:p>
            <a:pPr algn="l" marL="644714" indent="-322357" lvl="1">
              <a:lnSpc>
                <a:spcPts val="4180"/>
              </a:lnSpc>
              <a:spcBef>
                <a:spcPct val="0"/>
              </a:spcBef>
              <a:buFont typeface="Arial"/>
              <a:buChar char="•"/>
            </a:pPr>
            <a:r>
              <a:rPr lang="en-US" sz="298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Existing studies, surveys, forums (ResearchGate, Reddit r/Blind, AFB reports)</a:t>
            </a:r>
          </a:p>
        </p:txBody>
      </p:sp>
      <p:sp>
        <p:nvSpPr>
          <p:cNvPr name="Freeform 8" id="8"/>
          <p:cNvSpPr/>
          <p:nvPr/>
        </p:nvSpPr>
        <p:spPr>
          <a:xfrm flipH="false" flipV="true" rot="0">
            <a:off x="11253280" y="237350"/>
            <a:ext cx="6726332" cy="6726332"/>
          </a:xfrm>
          <a:custGeom>
            <a:avLst/>
            <a:gdLst/>
            <a:ahLst/>
            <a:cxnLst/>
            <a:rect r="r" b="b" t="t" l="l"/>
            <a:pathLst>
              <a:path h="6726332" w="6726332">
                <a:moveTo>
                  <a:pt x="0" y="6726332"/>
                </a:moveTo>
                <a:lnTo>
                  <a:pt x="6726332" y="6726332"/>
                </a:lnTo>
                <a:lnTo>
                  <a:pt x="6726332" y="0"/>
                </a:lnTo>
                <a:lnTo>
                  <a:pt x="0" y="0"/>
                </a:lnTo>
                <a:lnTo>
                  <a:pt x="0" y="6726332"/>
                </a:lnTo>
                <a:close/>
              </a:path>
            </a:pathLst>
          </a:custGeom>
          <a:blipFill>
            <a:blip r:embed="rId2">
              <a:alphaModFix amt="44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9" id="9"/>
          <p:cNvSpPr txBox="true"/>
          <p:nvPr/>
        </p:nvSpPr>
        <p:spPr>
          <a:xfrm rot="0">
            <a:off x="3649889" y="245761"/>
            <a:ext cx="10795298" cy="118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>
                <a:solidFill>
                  <a:srgbClr val="66FFFF"/>
                </a:solidFill>
                <a:latin typeface="Anton"/>
                <a:ea typeface="Anton"/>
                <a:cs typeface="Anton"/>
                <a:sym typeface="Anton"/>
              </a:rPr>
              <a:t>REQUIREMENTS GATHERING TOOLS</a:t>
            </a:r>
          </a:p>
        </p:txBody>
      </p:sp>
      <p:sp>
        <p:nvSpPr>
          <p:cNvPr name="AutoShape 10" id="10"/>
          <p:cNvSpPr/>
          <p:nvPr/>
        </p:nvSpPr>
        <p:spPr>
          <a:xfrm>
            <a:off x="3649889" y="1430036"/>
            <a:ext cx="10795298" cy="0"/>
          </a:xfrm>
          <a:prstGeom prst="line">
            <a:avLst/>
          </a:prstGeom>
          <a:ln cap="flat" w="38100">
            <a:gradFill>
              <a:gsLst>
                <a:gs pos="0">
                  <a:srgbClr val="FFFBFB">
                    <a:alpha val="0"/>
                  </a:srgbClr>
                </a:gs>
                <a:gs pos="50000">
                  <a:srgbClr val="FFFFFF">
                    <a:alpha val="10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9C9">
                <a:alpha val="100000"/>
              </a:srgbClr>
            </a:gs>
            <a:gs pos="100000">
              <a:srgbClr val="00FFF7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992838" y="1873513"/>
            <a:ext cx="4302323" cy="606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b="true" sz="3500">
                <a:solidFill>
                  <a:srgbClr val="00FFF7"/>
                </a:solidFill>
                <a:latin typeface="DM Sans Bold"/>
                <a:ea typeface="DM Sans Bold"/>
                <a:cs typeface="DM Sans Bold"/>
                <a:sym typeface="DM Sans Bold"/>
              </a:rPr>
              <a:t>Sorted by Prefrence</a:t>
            </a:r>
          </a:p>
        </p:txBody>
      </p:sp>
      <p:sp>
        <p:nvSpPr>
          <p:cNvPr name="Freeform 3" id="3"/>
          <p:cNvSpPr/>
          <p:nvPr/>
        </p:nvSpPr>
        <p:spPr>
          <a:xfrm flipH="false" flipV="true" rot="0">
            <a:off x="11253280" y="237350"/>
            <a:ext cx="6726332" cy="6726332"/>
          </a:xfrm>
          <a:custGeom>
            <a:avLst/>
            <a:gdLst/>
            <a:ahLst/>
            <a:cxnLst/>
            <a:rect r="r" b="b" t="t" l="l"/>
            <a:pathLst>
              <a:path h="6726332" w="6726332">
                <a:moveTo>
                  <a:pt x="0" y="6726332"/>
                </a:moveTo>
                <a:lnTo>
                  <a:pt x="6726332" y="6726332"/>
                </a:lnTo>
                <a:lnTo>
                  <a:pt x="6726332" y="0"/>
                </a:lnTo>
                <a:lnTo>
                  <a:pt x="0" y="0"/>
                </a:lnTo>
                <a:lnTo>
                  <a:pt x="0" y="6726332"/>
                </a:lnTo>
                <a:close/>
              </a:path>
            </a:pathLst>
          </a:custGeom>
          <a:blipFill>
            <a:blip r:embed="rId2">
              <a:alphaModFix amt="44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4" id="4"/>
          <p:cNvSpPr txBox="true"/>
          <p:nvPr/>
        </p:nvSpPr>
        <p:spPr>
          <a:xfrm rot="0">
            <a:off x="4757965" y="245761"/>
            <a:ext cx="8579148" cy="118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>
                <a:solidFill>
                  <a:srgbClr val="66FFFF"/>
                </a:solidFill>
                <a:latin typeface="Anton"/>
                <a:ea typeface="Anton"/>
                <a:cs typeface="Anton"/>
                <a:sym typeface="Anton"/>
              </a:rPr>
              <a:t>PRESENTATION OF RESULTS</a:t>
            </a:r>
          </a:p>
        </p:txBody>
      </p:sp>
      <p:sp>
        <p:nvSpPr>
          <p:cNvPr name="AutoShape 5" id="5"/>
          <p:cNvSpPr/>
          <p:nvPr/>
        </p:nvSpPr>
        <p:spPr>
          <a:xfrm>
            <a:off x="4757965" y="1430036"/>
            <a:ext cx="8579148" cy="0"/>
          </a:xfrm>
          <a:prstGeom prst="line">
            <a:avLst/>
          </a:prstGeom>
          <a:ln cap="flat" w="38100">
            <a:gradFill>
              <a:gsLst>
                <a:gs pos="0">
                  <a:srgbClr val="FFFBFB">
                    <a:alpha val="0"/>
                  </a:srgbClr>
                </a:gs>
                <a:gs pos="50000">
                  <a:srgbClr val="FFFFFF">
                    <a:alpha val="10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1253280" y="3282354"/>
            <a:ext cx="6893569" cy="5022054"/>
          </a:xfrm>
          <a:custGeom>
            <a:avLst/>
            <a:gdLst/>
            <a:ahLst/>
            <a:cxnLst/>
            <a:rect r="r" b="b" t="t" l="l"/>
            <a:pathLst>
              <a:path h="5022054" w="6893569">
                <a:moveTo>
                  <a:pt x="0" y="0"/>
                </a:moveTo>
                <a:lnTo>
                  <a:pt x="6893569" y="0"/>
                </a:lnTo>
                <a:lnTo>
                  <a:pt x="6893569" y="5022055"/>
                </a:lnTo>
                <a:lnTo>
                  <a:pt x="0" y="502205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946201" y="3003812"/>
            <a:ext cx="3076521" cy="5386467"/>
          </a:xfrm>
          <a:custGeom>
            <a:avLst/>
            <a:gdLst/>
            <a:ahLst/>
            <a:cxnLst/>
            <a:rect r="r" b="b" t="t" l="l"/>
            <a:pathLst>
              <a:path h="5386467" w="3076521">
                <a:moveTo>
                  <a:pt x="0" y="0"/>
                </a:moveTo>
                <a:lnTo>
                  <a:pt x="3076521" y="0"/>
                </a:lnTo>
                <a:lnTo>
                  <a:pt x="3076521" y="5386467"/>
                </a:lnTo>
                <a:lnTo>
                  <a:pt x="0" y="538646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7350" y="3282354"/>
            <a:ext cx="7548294" cy="5096056"/>
          </a:xfrm>
          <a:custGeom>
            <a:avLst/>
            <a:gdLst/>
            <a:ahLst/>
            <a:cxnLst/>
            <a:rect r="r" b="b" t="t" l="l"/>
            <a:pathLst>
              <a:path h="5096056" w="7548294">
                <a:moveTo>
                  <a:pt x="0" y="0"/>
                </a:moveTo>
                <a:lnTo>
                  <a:pt x="7548293" y="0"/>
                </a:lnTo>
                <a:lnTo>
                  <a:pt x="7548293" y="5096057"/>
                </a:lnTo>
                <a:lnTo>
                  <a:pt x="0" y="509605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9C9">
                <a:alpha val="100000"/>
              </a:srgbClr>
            </a:gs>
            <a:gs pos="100000">
              <a:srgbClr val="00FFF7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41215" y="1596720"/>
            <a:ext cx="15438256" cy="2950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b="true" sz="3500">
                <a:solidFill>
                  <a:srgbClr val="00FFF7"/>
                </a:solidFill>
                <a:latin typeface="DM Sans Bold"/>
                <a:ea typeface="DM Sans Bold"/>
                <a:cs typeface="DM Sans Bold"/>
                <a:sym typeface="DM Sans Bold"/>
              </a:rPr>
              <a:t>From Apps Reviews:</a:t>
            </a:r>
          </a:p>
          <a:p>
            <a:pPr algn="l" marL="571485" indent="-285743" lvl="1">
              <a:lnSpc>
                <a:spcPts val="3705"/>
              </a:lnSpc>
              <a:spcBef>
                <a:spcPct val="0"/>
              </a:spcBef>
              <a:buFont typeface="Arial"/>
              <a:buChar char="•"/>
            </a:pPr>
            <a:r>
              <a:rPr lang="en-US" sz="264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Limited local currency support (especially Middle East/Arab users)</a:t>
            </a:r>
          </a:p>
          <a:p>
            <a:pPr algn="l" marL="571485" indent="-285743" lvl="1">
              <a:lnSpc>
                <a:spcPts val="3705"/>
              </a:lnSpc>
              <a:spcBef>
                <a:spcPct val="0"/>
              </a:spcBef>
              <a:buFont typeface="Arial"/>
              <a:buChar char="•"/>
            </a:pPr>
            <a:r>
              <a:rPr lang="en-US" sz="264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Want all features in one app</a:t>
            </a:r>
          </a:p>
          <a:p>
            <a:pPr algn="l" marL="571485" indent="-285743" lvl="1">
              <a:lnSpc>
                <a:spcPts val="3705"/>
              </a:lnSpc>
              <a:spcBef>
                <a:spcPct val="0"/>
              </a:spcBef>
              <a:buFont typeface="Arial"/>
              <a:buChar char="•"/>
            </a:pPr>
            <a:r>
              <a:rPr lang="en-US" sz="264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Limited voice commands</a:t>
            </a:r>
          </a:p>
          <a:p>
            <a:pPr algn="l" marL="571485" indent="-285743" lvl="1">
              <a:lnSpc>
                <a:spcPts val="3705"/>
              </a:lnSpc>
              <a:spcBef>
                <a:spcPct val="0"/>
              </a:spcBef>
              <a:buFont typeface="Arial"/>
              <a:buChar char="•"/>
            </a:pPr>
            <a:r>
              <a:rPr lang="en-US" sz="264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Multiple Languages not supported (only English)</a:t>
            </a:r>
          </a:p>
          <a:p>
            <a:pPr algn="l" marL="571485" indent="-285743" lvl="1">
              <a:lnSpc>
                <a:spcPts val="3705"/>
              </a:lnSpc>
              <a:spcBef>
                <a:spcPct val="0"/>
              </a:spcBef>
              <a:buFont typeface="Arial"/>
              <a:buChar char="•"/>
            </a:pPr>
            <a:r>
              <a:rPr lang="en-US" sz="264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Internet dependency (Need for offline mode)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41215" y="4695238"/>
            <a:ext cx="14887864" cy="541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b="true" sz="3500">
                <a:solidFill>
                  <a:srgbClr val="00FFF7"/>
                </a:solidFill>
                <a:latin typeface="DM Sans Bold"/>
                <a:ea typeface="DM Sans Bold"/>
                <a:cs typeface="DM Sans Bold"/>
                <a:sym typeface="DM Sans Bold"/>
              </a:rPr>
              <a:t>From Online Studies &amp; Surveys: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Top important models needed:</a:t>
            </a:r>
          </a:p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Text extraction</a:t>
            </a:r>
          </a:p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Navigation</a:t>
            </a:r>
          </a:p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Objects/Obstacles Detection</a:t>
            </a:r>
          </a:p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Color Detection</a:t>
            </a:r>
          </a:p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Face Detection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 and most of them need App work with:</a:t>
            </a:r>
          </a:p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I</a:t>
            </a:r>
            <a:r>
              <a:rPr lang="en-US" sz="3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nput with Voice form</a:t>
            </a:r>
          </a:p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Output with Speech</a:t>
            </a:r>
          </a:p>
        </p:txBody>
      </p:sp>
      <p:sp>
        <p:nvSpPr>
          <p:cNvPr name="Freeform 4" id="4"/>
          <p:cNvSpPr/>
          <p:nvPr/>
        </p:nvSpPr>
        <p:spPr>
          <a:xfrm flipH="false" flipV="true" rot="0">
            <a:off x="11253280" y="237350"/>
            <a:ext cx="6726332" cy="6726332"/>
          </a:xfrm>
          <a:custGeom>
            <a:avLst/>
            <a:gdLst/>
            <a:ahLst/>
            <a:cxnLst/>
            <a:rect r="r" b="b" t="t" l="l"/>
            <a:pathLst>
              <a:path h="6726332" w="6726332">
                <a:moveTo>
                  <a:pt x="0" y="6726332"/>
                </a:moveTo>
                <a:lnTo>
                  <a:pt x="6726332" y="6726332"/>
                </a:lnTo>
                <a:lnTo>
                  <a:pt x="6726332" y="0"/>
                </a:lnTo>
                <a:lnTo>
                  <a:pt x="0" y="0"/>
                </a:lnTo>
                <a:lnTo>
                  <a:pt x="0" y="6726332"/>
                </a:lnTo>
                <a:close/>
              </a:path>
            </a:pathLst>
          </a:custGeom>
          <a:blipFill>
            <a:blip r:embed="rId2">
              <a:alphaModFix amt="44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5" id="5"/>
          <p:cNvSpPr txBox="true"/>
          <p:nvPr/>
        </p:nvSpPr>
        <p:spPr>
          <a:xfrm rot="0">
            <a:off x="5101510" y="245761"/>
            <a:ext cx="7892058" cy="118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>
                <a:solidFill>
                  <a:srgbClr val="66FFFF"/>
                </a:solidFill>
                <a:latin typeface="Anton"/>
                <a:ea typeface="Anton"/>
                <a:cs typeface="Anton"/>
                <a:sym typeface="Anton"/>
              </a:rPr>
              <a:t>DESCUSSION OF RESULTS</a:t>
            </a:r>
          </a:p>
        </p:txBody>
      </p:sp>
      <p:sp>
        <p:nvSpPr>
          <p:cNvPr name="AutoShape 6" id="6"/>
          <p:cNvSpPr/>
          <p:nvPr/>
        </p:nvSpPr>
        <p:spPr>
          <a:xfrm>
            <a:off x="4757965" y="1430036"/>
            <a:ext cx="8235603" cy="0"/>
          </a:xfrm>
          <a:prstGeom prst="line">
            <a:avLst/>
          </a:prstGeom>
          <a:ln cap="flat" w="38100">
            <a:gradFill>
              <a:gsLst>
                <a:gs pos="0">
                  <a:srgbClr val="FFFBFB">
                    <a:alpha val="0"/>
                  </a:srgbClr>
                </a:gs>
                <a:gs pos="50000">
                  <a:srgbClr val="FFFFFF">
                    <a:alpha val="10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9C9">
                <a:alpha val="100000"/>
              </a:srgbClr>
            </a:gs>
            <a:gs pos="100000">
              <a:srgbClr val="00FFF7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83482" y="2018349"/>
            <a:ext cx="10478294" cy="3279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b="true" sz="3500">
                <a:solidFill>
                  <a:srgbClr val="00FFF7"/>
                </a:solidFill>
                <a:latin typeface="DM Sans Bold"/>
                <a:ea typeface="DM Sans Bold"/>
                <a:cs typeface="DM Sans Bold"/>
                <a:sym typeface="DM Sans Bold"/>
              </a:rPr>
              <a:t>Ove</a:t>
            </a:r>
            <a:r>
              <a:rPr lang="en-US" b="true" sz="3500">
                <a:solidFill>
                  <a:srgbClr val="00FFF7"/>
                </a:solidFill>
                <a:latin typeface="DM Sans Bold"/>
                <a:ea typeface="DM Sans Bold"/>
                <a:cs typeface="DM Sans Bold"/>
                <a:sym typeface="DM Sans Bold"/>
              </a:rPr>
              <a:t>rview</a:t>
            </a:r>
          </a:p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Build offline mobile assistant for independence &amp; safety</a:t>
            </a:r>
          </a:p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Operate 100% offline (no internet needed)</a:t>
            </a:r>
          </a:p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Privacy-focused (all data stays on device)</a:t>
            </a:r>
          </a:p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Fr</a:t>
            </a:r>
            <a:r>
              <a:rPr lang="en-US" sz="3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ee, simple, works on basic smartphones</a:t>
            </a:r>
          </a:p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Extensible for future features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93007" y="6087738"/>
            <a:ext cx="9079706" cy="2746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b="true" sz="3500">
                <a:solidFill>
                  <a:srgbClr val="00FFF7"/>
                </a:solidFill>
                <a:latin typeface="DM Sans Bold"/>
                <a:ea typeface="DM Sans Bold"/>
                <a:cs typeface="DM Sans Bold"/>
                <a:sym typeface="DM Sans Bold"/>
              </a:rPr>
              <a:t>Stakeholders</a:t>
            </a:r>
          </a:p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Primary: Visually impaired users</a:t>
            </a:r>
          </a:p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Secondary: Caregivers, family, trainers</a:t>
            </a:r>
          </a:p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Project Team: Students (design, models, mobile)</a:t>
            </a:r>
          </a:p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Supervisors: Faculty for evaluation</a:t>
            </a:r>
          </a:p>
        </p:txBody>
      </p:sp>
      <p:sp>
        <p:nvSpPr>
          <p:cNvPr name="Freeform 4" id="4"/>
          <p:cNvSpPr/>
          <p:nvPr/>
        </p:nvSpPr>
        <p:spPr>
          <a:xfrm flipH="false" flipV="true" rot="0">
            <a:off x="11253280" y="237350"/>
            <a:ext cx="6726332" cy="6726332"/>
          </a:xfrm>
          <a:custGeom>
            <a:avLst/>
            <a:gdLst/>
            <a:ahLst/>
            <a:cxnLst/>
            <a:rect r="r" b="b" t="t" l="l"/>
            <a:pathLst>
              <a:path h="6726332" w="6726332">
                <a:moveTo>
                  <a:pt x="0" y="6726332"/>
                </a:moveTo>
                <a:lnTo>
                  <a:pt x="6726332" y="6726332"/>
                </a:lnTo>
                <a:lnTo>
                  <a:pt x="6726332" y="0"/>
                </a:lnTo>
                <a:lnTo>
                  <a:pt x="0" y="0"/>
                </a:lnTo>
                <a:lnTo>
                  <a:pt x="0" y="6726332"/>
                </a:lnTo>
                <a:close/>
              </a:path>
            </a:pathLst>
          </a:custGeom>
          <a:blipFill>
            <a:blip r:embed="rId2">
              <a:alphaModFix amt="44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5" id="5"/>
          <p:cNvSpPr txBox="true"/>
          <p:nvPr/>
        </p:nvSpPr>
        <p:spPr>
          <a:xfrm rot="0">
            <a:off x="2437387" y="245761"/>
            <a:ext cx="13220304" cy="118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>
                <a:solidFill>
                  <a:srgbClr val="66FFFF"/>
                </a:solidFill>
                <a:latin typeface="Anton"/>
                <a:ea typeface="Anton"/>
                <a:cs typeface="Anton"/>
                <a:sym typeface="Anton"/>
              </a:rPr>
              <a:t>BUSINESS REQUIREMENTS IDENTIFICATION</a:t>
            </a:r>
          </a:p>
        </p:txBody>
      </p:sp>
      <p:sp>
        <p:nvSpPr>
          <p:cNvPr name="AutoShape 6" id="6"/>
          <p:cNvSpPr/>
          <p:nvPr/>
        </p:nvSpPr>
        <p:spPr>
          <a:xfrm>
            <a:off x="2437387" y="1430036"/>
            <a:ext cx="13220304" cy="0"/>
          </a:xfrm>
          <a:prstGeom prst="line">
            <a:avLst/>
          </a:prstGeom>
          <a:ln cap="flat" w="38100">
            <a:gradFill>
              <a:gsLst>
                <a:gs pos="0">
                  <a:srgbClr val="FFFBFB">
                    <a:alpha val="0"/>
                  </a:srgbClr>
                </a:gs>
                <a:gs pos="50000">
                  <a:srgbClr val="FFFFFF">
                    <a:alpha val="10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9C9">
                <a:alpha val="100000"/>
              </a:srgbClr>
            </a:gs>
            <a:gs pos="100000">
              <a:srgbClr val="00FFF7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02532" y="2018349"/>
            <a:ext cx="11958539" cy="6480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b="true" sz="3500">
                <a:solidFill>
                  <a:srgbClr val="00FFF7"/>
                </a:solidFill>
                <a:latin typeface="DM Sans Bold"/>
                <a:ea typeface="DM Sans Bold"/>
                <a:cs typeface="DM Sans Bold"/>
                <a:sym typeface="DM Sans Bold"/>
              </a:rPr>
              <a:t>Main Functions:</a:t>
            </a:r>
          </a:p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Capture images from phone camera in real-time </a:t>
            </a:r>
          </a:p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Preprocess images before model inference </a:t>
            </a:r>
          </a:p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Run</a:t>
            </a:r>
            <a:r>
              <a:rPr lang="en-US" sz="3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offline models (TFLite) for all detections </a:t>
            </a:r>
          </a:p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Convert results to clear audio messages </a:t>
            </a:r>
          </a:p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Suppo</a:t>
            </a:r>
            <a:r>
              <a:rPr lang="en-US" sz="3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rt Arabic &amp; English for voice input/output </a:t>
            </a:r>
          </a:p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Handle errors (low light, no detection) with voice alerts</a:t>
            </a:r>
          </a:p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Object Detection → YOLO11n.tflite (classes &amp; counts) </a:t>
            </a:r>
          </a:p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Curr</a:t>
            </a:r>
            <a:r>
              <a:rPr lang="en-US" sz="3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ency Recognition → EfficientNet.tflite (EGP notes) </a:t>
            </a:r>
          </a:p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Color Detection → OpenCV (dominant color) </a:t>
            </a:r>
          </a:p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Text </a:t>
            </a:r>
            <a:r>
              <a:rPr lang="en-US" sz="3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Extraction → ML Kit OCR (Arabic/English) </a:t>
            </a:r>
          </a:p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Face Recognition → MobileFaceNet.tflite (embeddings + match)</a:t>
            </a:r>
          </a:p>
        </p:txBody>
      </p:sp>
      <p:sp>
        <p:nvSpPr>
          <p:cNvPr name="AutoShape 3" id="3"/>
          <p:cNvSpPr/>
          <p:nvPr/>
        </p:nvSpPr>
        <p:spPr>
          <a:xfrm>
            <a:off x="3176070" y="1430036"/>
            <a:ext cx="11742937" cy="0"/>
          </a:xfrm>
          <a:prstGeom prst="line">
            <a:avLst/>
          </a:prstGeom>
          <a:ln cap="flat" w="38100">
            <a:gradFill>
              <a:gsLst>
                <a:gs pos="0">
                  <a:srgbClr val="FFFBFB">
                    <a:alpha val="0"/>
                  </a:srgbClr>
                </a:gs>
                <a:gs pos="50000">
                  <a:srgbClr val="FFFFFF">
                    <a:alpha val="10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true" rot="0">
            <a:off x="11253280" y="237350"/>
            <a:ext cx="6726332" cy="6726332"/>
          </a:xfrm>
          <a:custGeom>
            <a:avLst/>
            <a:gdLst/>
            <a:ahLst/>
            <a:cxnLst/>
            <a:rect r="r" b="b" t="t" l="l"/>
            <a:pathLst>
              <a:path h="6726332" w="6726332">
                <a:moveTo>
                  <a:pt x="0" y="6726332"/>
                </a:moveTo>
                <a:lnTo>
                  <a:pt x="6726332" y="6726332"/>
                </a:lnTo>
                <a:lnTo>
                  <a:pt x="6726332" y="0"/>
                </a:lnTo>
                <a:lnTo>
                  <a:pt x="0" y="0"/>
                </a:lnTo>
                <a:lnTo>
                  <a:pt x="0" y="6726332"/>
                </a:lnTo>
                <a:close/>
              </a:path>
            </a:pathLst>
          </a:custGeom>
          <a:blipFill>
            <a:blip r:embed="rId2">
              <a:alphaModFix amt="44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5" id="5"/>
          <p:cNvSpPr txBox="true"/>
          <p:nvPr/>
        </p:nvSpPr>
        <p:spPr>
          <a:xfrm rot="0">
            <a:off x="3176070" y="245761"/>
            <a:ext cx="11742937" cy="118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>
                <a:solidFill>
                  <a:srgbClr val="66FFFF"/>
                </a:solidFill>
                <a:latin typeface="Anton"/>
                <a:ea typeface="Anton"/>
                <a:cs typeface="Anton"/>
                <a:sym typeface="Anton"/>
              </a:rPr>
              <a:t>SYSTEM FUNCTIONAL REQUIREMENTS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9C9">
                <a:alpha val="100000"/>
              </a:srgbClr>
            </a:gs>
            <a:gs pos="100000">
              <a:srgbClr val="00FFF7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24420" y="2243509"/>
            <a:ext cx="7304879" cy="221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b="true" sz="3500">
                <a:solidFill>
                  <a:srgbClr val="00FFF7"/>
                </a:solidFill>
                <a:latin typeface="DM Sans Bold"/>
                <a:ea typeface="DM Sans Bold"/>
                <a:cs typeface="DM Sans Bold"/>
                <a:sym typeface="DM Sans Bold"/>
              </a:rPr>
              <a:t>Performance:</a:t>
            </a:r>
          </a:p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&lt; 2 sec detection time</a:t>
            </a:r>
          </a:p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Low</a:t>
            </a:r>
            <a:r>
              <a:rPr lang="en-US" sz="3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battery use</a:t>
            </a:r>
          </a:p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W</a:t>
            </a:r>
            <a:r>
              <a:rPr lang="en-US" sz="3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orks on mid-range phones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24420" y="5642706"/>
            <a:ext cx="7219950" cy="221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b="true" sz="3500">
                <a:solidFill>
                  <a:srgbClr val="00FFF7"/>
                </a:solidFill>
                <a:latin typeface="DM Sans Bold"/>
                <a:ea typeface="DM Sans Bold"/>
                <a:cs typeface="DM Sans Bold"/>
                <a:sym typeface="DM Sans Bold"/>
              </a:rPr>
              <a:t>Usability &amp; Accessibility:</a:t>
            </a:r>
          </a:p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100% voice control</a:t>
            </a:r>
          </a:p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Arabic &amp; English support</a:t>
            </a:r>
          </a:p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</a:t>
            </a:r>
            <a:r>
              <a:rPr lang="en-US" sz="3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asy for non-technical users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495982" y="3998913"/>
            <a:ext cx="7219950" cy="221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b="true" sz="3500">
                <a:solidFill>
                  <a:srgbClr val="00FFF7"/>
                </a:solidFill>
                <a:latin typeface="DM Sans Bold"/>
                <a:ea typeface="DM Sans Bold"/>
                <a:cs typeface="DM Sans Bold"/>
                <a:sym typeface="DM Sans Bold"/>
              </a:rPr>
              <a:t>Security &amp; Reliability:</a:t>
            </a:r>
          </a:p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Fully offline (no cloud)</a:t>
            </a:r>
          </a:p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Local</a:t>
            </a:r>
            <a:r>
              <a:rPr lang="en-US" sz="3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data only (privacy)</a:t>
            </a:r>
          </a:p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Err</a:t>
            </a:r>
            <a:r>
              <a:rPr lang="en-US" sz="3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or handling (low light, etc.)</a:t>
            </a:r>
          </a:p>
        </p:txBody>
      </p:sp>
      <p:sp>
        <p:nvSpPr>
          <p:cNvPr name="AutoShape 5" id="5"/>
          <p:cNvSpPr/>
          <p:nvPr/>
        </p:nvSpPr>
        <p:spPr>
          <a:xfrm>
            <a:off x="2379145" y="1430036"/>
            <a:ext cx="13336786" cy="0"/>
          </a:xfrm>
          <a:prstGeom prst="line">
            <a:avLst/>
          </a:prstGeom>
          <a:ln cap="flat" w="38100">
            <a:gradFill>
              <a:gsLst>
                <a:gs pos="0">
                  <a:srgbClr val="FFFBFB">
                    <a:alpha val="0"/>
                  </a:srgbClr>
                </a:gs>
                <a:gs pos="50000">
                  <a:srgbClr val="FFFFFF">
                    <a:alpha val="10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true" rot="0">
            <a:off x="11253280" y="237350"/>
            <a:ext cx="6726332" cy="6726332"/>
          </a:xfrm>
          <a:custGeom>
            <a:avLst/>
            <a:gdLst/>
            <a:ahLst/>
            <a:cxnLst/>
            <a:rect r="r" b="b" t="t" l="l"/>
            <a:pathLst>
              <a:path h="6726332" w="6726332">
                <a:moveTo>
                  <a:pt x="0" y="6726332"/>
                </a:moveTo>
                <a:lnTo>
                  <a:pt x="6726332" y="6726332"/>
                </a:lnTo>
                <a:lnTo>
                  <a:pt x="6726332" y="0"/>
                </a:lnTo>
                <a:lnTo>
                  <a:pt x="0" y="0"/>
                </a:lnTo>
                <a:lnTo>
                  <a:pt x="0" y="6726332"/>
                </a:lnTo>
                <a:close/>
              </a:path>
            </a:pathLst>
          </a:custGeom>
          <a:blipFill>
            <a:blip r:embed="rId2">
              <a:alphaModFix amt="44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7" id="7"/>
          <p:cNvSpPr txBox="true"/>
          <p:nvPr/>
        </p:nvSpPr>
        <p:spPr>
          <a:xfrm rot="0">
            <a:off x="2379145" y="245761"/>
            <a:ext cx="13336786" cy="118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>
                <a:solidFill>
                  <a:srgbClr val="66FFFF"/>
                </a:solidFill>
                <a:latin typeface="Anton"/>
                <a:ea typeface="Anton"/>
                <a:cs typeface="Anton"/>
                <a:sym typeface="Anton"/>
              </a:rPr>
              <a:t>SYSTEM NON-FUNCTIONAL REQUIREMENTS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9C9">
                <a:alpha val="100000"/>
              </a:srgbClr>
            </a:gs>
            <a:gs pos="100000">
              <a:srgbClr val="00FFF7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280963" y="1796604"/>
            <a:ext cx="7533150" cy="8150938"/>
          </a:xfrm>
          <a:custGeom>
            <a:avLst/>
            <a:gdLst/>
            <a:ahLst/>
            <a:cxnLst/>
            <a:rect r="r" b="b" t="t" l="l"/>
            <a:pathLst>
              <a:path h="8150938" w="7533150">
                <a:moveTo>
                  <a:pt x="0" y="0"/>
                </a:moveTo>
                <a:lnTo>
                  <a:pt x="7533150" y="0"/>
                </a:lnTo>
                <a:lnTo>
                  <a:pt x="7533150" y="8150938"/>
                </a:lnTo>
                <a:lnTo>
                  <a:pt x="0" y="81509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2114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5916244" y="1430036"/>
            <a:ext cx="6262589" cy="0"/>
          </a:xfrm>
          <a:prstGeom prst="line">
            <a:avLst/>
          </a:prstGeom>
          <a:ln cap="flat" w="38100">
            <a:gradFill>
              <a:gsLst>
                <a:gs pos="0">
                  <a:srgbClr val="FFFBFB">
                    <a:alpha val="0"/>
                  </a:srgbClr>
                </a:gs>
                <a:gs pos="50000">
                  <a:srgbClr val="FFFFFF">
                    <a:alpha val="10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5916244" y="245761"/>
            <a:ext cx="6262589" cy="118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>
                <a:solidFill>
                  <a:srgbClr val="66FFFF"/>
                </a:solidFill>
                <a:latin typeface="Anton"/>
                <a:ea typeface="Anton"/>
                <a:cs typeface="Anton"/>
                <a:sym typeface="Anton"/>
              </a:rPr>
              <a:t>USE CASE DIAGRAM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9C9">
                <a:alpha val="100000"/>
              </a:srgbClr>
            </a:gs>
            <a:gs pos="100000">
              <a:srgbClr val="00FFF7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40119" y="2032849"/>
            <a:ext cx="15576941" cy="7768999"/>
          </a:xfrm>
          <a:custGeom>
            <a:avLst/>
            <a:gdLst/>
            <a:ahLst/>
            <a:cxnLst/>
            <a:rect r="r" b="b" t="t" l="l"/>
            <a:pathLst>
              <a:path h="7768999" w="15576941">
                <a:moveTo>
                  <a:pt x="0" y="0"/>
                </a:moveTo>
                <a:lnTo>
                  <a:pt x="15576940" y="0"/>
                </a:lnTo>
                <a:lnTo>
                  <a:pt x="15576940" y="7768999"/>
                </a:lnTo>
                <a:lnTo>
                  <a:pt x="0" y="77689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840141" y="245761"/>
            <a:ext cx="10414795" cy="118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>
                <a:solidFill>
                  <a:srgbClr val="66FFFF"/>
                </a:solidFill>
                <a:latin typeface="Anton"/>
                <a:ea typeface="Anton"/>
                <a:cs typeface="Anton"/>
                <a:sym typeface="Anton"/>
              </a:rPr>
              <a:t>OVERALL SYSTEM ARCHITECTURE</a:t>
            </a:r>
          </a:p>
        </p:txBody>
      </p:sp>
      <p:sp>
        <p:nvSpPr>
          <p:cNvPr name="AutoShape 4" id="4"/>
          <p:cNvSpPr/>
          <p:nvPr/>
        </p:nvSpPr>
        <p:spPr>
          <a:xfrm>
            <a:off x="3840141" y="1430036"/>
            <a:ext cx="10414795" cy="0"/>
          </a:xfrm>
          <a:prstGeom prst="line">
            <a:avLst/>
          </a:prstGeom>
          <a:ln cap="flat" w="38100">
            <a:gradFill>
              <a:gsLst>
                <a:gs pos="0">
                  <a:srgbClr val="FFFBFB">
                    <a:alpha val="0"/>
                  </a:srgbClr>
                </a:gs>
                <a:gs pos="50000">
                  <a:srgbClr val="FFFFFF">
                    <a:alpha val="10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9C9">
                <a:alpha val="100000"/>
              </a:srgbClr>
            </a:gs>
            <a:gs pos="100000">
              <a:srgbClr val="00FFF7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63149" y="1407587"/>
            <a:ext cx="6996151" cy="8584234"/>
          </a:xfrm>
          <a:custGeom>
            <a:avLst/>
            <a:gdLst/>
            <a:ahLst/>
            <a:cxnLst/>
            <a:rect r="r" b="b" t="t" l="l"/>
            <a:pathLst>
              <a:path h="8584234" w="6996151">
                <a:moveTo>
                  <a:pt x="0" y="0"/>
                </a:moveTo>
                <a:lnTo>
                  <a:pt x="6996151" y="0"/>
                </a:lnTo>
                <a:lnTo>
                  <a:pt x="6996151" y="8584235"/>
                </a:lnTo>
                <a:lnTo>
                  <a:pt x="0" y="858423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5450133" y="1198864"/>
            <a:ext cx="6700339" cy="0"/>
          </a:xfrm>
          <a:prstGeom prst="line">
            <a:avLst/>
          </a:prstGeom>
          <a:ln cap="flat" w="38100">
            <a:gradFill>
              <a:gsLst>
                <a:gs pos="0">
                  <a:srgbClr val="FFFBFB">
                    <a:alpha val="0"/>
                  </a:srgbClr>
                </a:gs>
                <a:gs pos="50000">
                  <a:srgbClr val="FFFFFF">
                    <a:alpha val="10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948617" y="1407587"/>
            <a:ext cx="6438176" cy="8584234"/>
          </a:xfrm>
          <a:custGeom>
            <a:avLst/>
            <a:gdLst/>
            <a:ahLst/>
            <a:cxnLst/>
            <a:rect r="r" b="b" t="t" l="l"/>
            <a:pathLst>
              <a:path h="8584234" w="6438176">
                <a:moveTo>
                  <a:pt x="0" y="0"/>
                </a:moveTo>
                <a:lnTo>
                  <a:pt x="6438175" y="0"/>
                </a:lnTo>
                <a:lnTo>
                  <a:pt x="6438175" y="8584235"/>
                </a:lnTo>
                <a:lnTo>
                  <a:pt x="0" y="85842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3027562" y="706136"/>
            <a:ext cx="3789759" cy="59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b="true" sz="3499">
                <a:solidFill>
                  <a:srgbClr val="66FFFF"/>
                </a:solidFill>
                <a:latin typeface="DM Sans Bold"/>
                <a:ea typeface="DM Sans Bold"/>
                <a:cs typeface="DM Sans Bold"/>
                <a:sym typeface="DM Sans Bold"/>
              </a:rPr>
              <a:t>Voice Commands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74258" y="706136"/>
            <a:ext cx="3716437" cy="59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b="true" sz="3499">
                <a:solidFill>
                  <a:srgbClr val="66FFFF"/>
                </a:solidFill>
                <a:latin typeface="DM Sans Bold"/>
                <a:ea typeface="DM Sans Bold"/>
                <a:cs typeface="DM Sans Bold"/>
                <a:sym typeface="DM Sans Bold"/>
              </a:rPr>
              <a:t>Object Detection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232565" y="14589"/>
            <a:ext cx="7079556" cy="118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>
                <a:solidFill>
                  <a:srgbClr val="66FFFF"/>
                </a:solidFill>
                <a:latin typeface="Anton"/>
                <a:ea typeface="Anton"/>
                <a:cs typeface="Anton"/>
                <a:sym typeface="Anton"/>
              </a:rPr>
              <a:t> SEQUENCE DIAGRAMS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9C9">
                <a:alpha val="100000"/>
              </a:srgbClr>
            </a:gs>
            <a:gs pos="100000">
              <a:srgbClr val="00FFF7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40119" y="1918943"/>
            <a:ext cx="15342495" cy="7778621"/>
          </a:xfrm>
          <a:custGeom>
            <a:avLst/>
            <a:gdLst/>
            <a:ahLst/>
            <a:cxnLst/>
            <a:rect r="r" b="b" t="t" l="l"/>
            <a:pathLst>
              <a:path h="7778621" w="15342495">
                <a:moveTo>
                  <a:pt x="0" y="0"/>
                </a:moveTo>
                <a:lnTo>
                  <a:pt x="15342494" y="0"/>
                </a:lnTo>
                <a:lnTo>
                  <a:pt x="15342494" y="7778621"/>
                </a:lnTo>
                <a:lnTo>
                  <a:pt x="0" y="77786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3283226" y="1430036"/>
            <a:ext cx="11528624" cy="0"/>
          </a:xfrm>
          <a:prstGeom prst="line">
            <a:avLst/>
          </a:prstGeom>
          <a:ln cap="flat" w="38100">
            <a:gradFill>
              <a:gsLst>
                <a:gs pos="0">
                  <a:srgbClr val="FFFBFB">
                    <a:alpha val="0"/>
                  </a:srgbClr>
                </a:gs>
                <a:gs pos="50000">
                  <a:srgbClr val="FFFFFF">
                    <a:alpha val="10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3283226" y="245761"/>
            <a:ext cx="11528624" cy="118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>
                <a:solidFill>
                  <a:srgbClr val="66FFFF"/>
                </a:solidFill>
                <a:latin typeface="Anton"/>
                <a:ea typeface="Anton"/>
                <a:cs typeface="Anton"/>
                <a:sym typeface="Anton"/>
              </a:rPr>
              <a:t>DATA FLOW DIAGRAM (DFD LEVEL 0)</a:t>
            </a:r>
          </a:p>
        </p:txBody>
      </p:sp>
    </p:spTree>
  </p:cSld>
  <p:clrMapOvr>
    <a:masterClrMapping/>
  </p:clrMapOvr>
  <p:transition spd="fast">
    <p:cover dir="d"/>
  </p:transition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9C9">
                <a:alpha val="100000"/>
              </a:srgbClr>
            </a:gs>
            <a:gs pos="100000">
              <a:srgbClr val="00FFF7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058267" y="1649069"/>
            <a:ext cx="7391913" cy="8202856"/>
          </a:xfrm>
          <a:custGeom>
            <a:avLst/>
            <a:gdLst/>
            <a:ahLst/>
            <a:cxnLst/>
            <a:rect r="r" b="b" t="t" l="l"/>
            <a:pathLst>
              <a:path h="8202856" w="7391913">
                <a:moveTo>
                  <a:pt x="0" y="0"/>
                </a:moveTo>
                <a:lnTo>
                  <a:pt x="7391913" y="0"/>
                </a:lnTo>
                <a:lnTo>
                  <a:pt x="7391913" y="8202856"/>
                </a:lnTo>
                <a:lnTo>
                  <a:pt x="0" y="82028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876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3283226" y="1430036"/>
            <a:ext cx="11456194" cy="0"/>
          </a:xfrm>
          <a:prstGeom prst="line">
            <a:avLst/>
          </a:prstGeom>
          <a:ln cap="flat" w="38100">
            <a:gradFill>
              <a:gsLst>
                <a:gs pos="0">
                  <a:srgbClr val="FFFBFB">
                    <a:alpha val="0"/>
                  </a:srgbClr>
                </a:gs>
                <a:gs pos="50000">
                  <a:srgbClr val="FFFFFF">
                    <a:alpha val="10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3355656" y="245761"/>
            <a:ext cx="11383764" cy="118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>
                <a:solidFill>
                  <a:srgbClr val="66FFFF"/>
                </a:solidFill>
                <a:latin typeface="Anton"/>
                <a:ea typeface="Anton"/>
                <a:cs typeface="Anton"/>
                <a:sym typeface="Anton"/>
              </a:rPr>
              <a:t>DATA FLOW DIAGRAM (DFD LEVEL 1)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9C9">
                <a:alpha val="100000"/>
              </a:srgbClr>
            </a:gs>
            <a:gs pos="100000">
              <a:srgbClr val="00FFF7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32501" y="2856572"/>
            <a:ext cx="17036163" cy="5089554"/>
          </a:xfrm>
          <a:custGeom>
            <a:avLst/>
            <a:gdLst/>
            <a:ahLst/>
            <a:cxnLst/>
            <a:rect r="r" b="b" t="t" l="l"/>
            <a:pathLst>
              <a:path h="5089554" w="17036163">
                <a:moveTo>
                  <a:pt x="0" y="0"/>
                </a:moveTo>
                <a:lnTo>
                  <a:pt x="17036162" y="0"/>
                </a:lnTo>
                <a:lnTo>
                  <a:pt x="17036162" y="5089554"/>
                </a:lnTo>
                <a:lnTo>
                  <a:pt x="0" y="50895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3057851" y="1430036"/>
            <a:ext cx="11979375" cy="0"/>
          </a:xfrm>
          <a:prstGeom prst="line">
            <a:avLst/>
          </a:prstGeom>
          <a:ln cap="flat" w="38100">
            <a:gradFill>
              <a:gsLst>
                <a:gs pos="0">
                  <a:srgbClr val="FFFBFB">
                    <a:alpha val="0"/>
                  </a:srgbClr>
                </a:gs>
                <a:gs pos="50000">
                  <a:srgbClr val="FFFFFF">
                    <a:alpha val="10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3057851" y="245761"/>
            <a:ext cx="11979375" cy="118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>
                <a:solidFill>
                  <a:srgbClr val="66FFFF"/>
                </a:solidFill>
                <a:latin typeface="Anton"/>
                <a:ea typeface="Anton"/>
                <a:cs typeface="Anton"/>
                <a:sym typeface="Anton"/>
              </a:rPr>
              <a:t>ENTITY RELATIONSHIP DIAGRAM (ERD)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9C9">
                <a:alpha val="100000"/>
              </a:srgbClr>
            </a:gs>
            <a:gs pos="100000">
              <a:srgbClr val="00FFF7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600008" y="1967358"/>
            <a:ext cx="8895062" cy="7640311"/>
          </a:xfrm>
          <a:custGeom>
            <a:avLst/>
            <a:gdLst/>
            <a:ahLst/>
            <a:cxnLst/>
            <a:rect r="r" b="b" t="t" l="l"/>
            <a:pathLst>
              <a:path h="7640311" w="8895062">
                <a:moveTo>
                  <a:pt x="0" y="0"/>
                </a:moveTo>
                <a:lnTo>
                  <a:pt x="8895061" y="0"/>
                </a:lnTo>
                <a:lnTo>
                  <a:pt x="8895061" y="7640312"/>
                </a:lnTo>
                <a:lnTo>
                  <a:pt x="0" y="76403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5598000" y="1430036"/>
            <a:ext cx="6899077" cy="0"/>
          </a:xfrm>
          <a:prstGeom prst="line">
            <a:avLst/>
          </a:prstGeom>
          <a:ln cap="flat" w="38100">
            <a:gradFill>
              <a:gsLst>
                <a:gs pos="0">
                  <a:srgbClr val="FFFBFB">
                    <a:alpha val="0"/>
                  </a:srgbClr>
                </a:gs>
                <a:gs pos="50000">
                  <a:srgbClr val="FFFFFF">
                    <a:alpha val="10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5598000" y="245761"/>
            <a:ext cx="6899077" cy="118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>
                <a:solidFill>
                  <a:srgbClr val="66FFFF"/>
                </a:solidFill>
                <a:latin typeface="Anton"/>
                <a:ea typeface="Anton"/>
                <a:cs typeface="Anton"/>
                <a:sym typeface="Anton"/>
              </a:rPr>
              <a:t>UML CLASS DIAGRAM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9C9">
                <a:alpha val="100000"/>
              </a:srgbClr>
            </a:gs>
            <a:gs pos="100000">
              <a:srgbClr val="00FFF7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27285" y="1553760"/>
            <a:ext cx="15529114" cy="8530880"/>
          </a:xfrm>
          <a:custGeom>
            <a:avLst/>
            <a:gdLst/>
            <a:ahLst/>
            <a:cxnLst/>
            <a:rect r="r" b="b" t="t" l="l"/>
            <a:pathLst>
              <a:path h="8530880" w="15529114">
                <a:moveTo>
                  <a:pt x="0" y="0"/>
                </a:moveTo>
                <a:lnTo>
                  <a:pt x="15529114" y="0"/>
                </a:lnTo>
                <a:lnTo>
                  <a:pt x="15529114" y="8530880"/>
                </a:lnTo>
                <a:lnTo>
                  <a:pt x="0" y="85308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86" r="0" b="-286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6477574" y="1430036"/>
            <a:ext cx="5139928" cy="0"/>
          </a:xfrm>
          <a:prstGeom prst="line">
            <a:avLst/>
          </a:prstGeom>
          <a:ln cap="flat" w="38100">
            <a:gradFill>
              <a:gsLst>
                <a:gs pos="0">
                  <a:srgbClr val="FFFBFB">
                    <a:alpha val="0"/>
                  </a:srgbClr>
                </a:gs>
                <a:gs pos="50000">
                  <a:srgbClr val="FFFFFF">
                    <a:alpha val="10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6477574" y="245761"/>
            <a:ext cx="5139928" cy="118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>
                <a:solidFill>
                  <a:srgbClr val="66FFFF"/>
                </a:solidFill>
                <a:latin typeface="Anton"/>
                <a:ea typeface="Anton"/>
                <a:cs typeface="Anton"/>
                <a:sym typeface="Anton"/>
              </a:rPr>
              <a:t>STATE DIAGRAM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9C9">
                <a:alpha val="100000"/>
              </a:srgbClr>
            </a:gs>
            <a:gs pos="100000">
              <a:srgbClr val="00FFF7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10066" y="2171211"/>
            <a:ext cx="8115300" cy="66498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15"/>
              </a:lnSpc>
            </a:pPr>
            <a:r>
              <a:rPr lang="en-US" b="true" sz="3496">
                <a:solidFill>
                  <a:srgbClr val="00FFF7"/>
                </a:solidFill>
                <a:latin typeface="DM Sans Bold"/>
                <a:ea typeface="DM Sans Bold"/>
                <a:cs typeface="DM Sans Bold"/>
                <a:sym typeface="DM Sans Bold"/>
              </a:rPr>
              <a:t>Object Detection (YOLO11n)</a:t>
            </a:r>
          </a:p>
          <a:p>
            <a:pPr algn="l" marL="647033" indent="-323516" lvl="1">
              <a:lnSpc>
                <a:spcPts val="4555"/>
              </a:lnSpc>
              <a:buFont typeface="Arial"/>
              <a:buChar char="•"/>
            </a:pPr>
            <a:r>
              <a:rPr lang="en-US" sz="2996">
                <a:solidFill>
                  <a:srgbClr val="FBFFFF"/>
                </a:solidFill>
                <a:latin typeface="DM Sans"/>
                <a:ea typeface="DM Sans"/>
                <a:cs typeface="DM Sans"/>
                <a:sym typeface="DM Sans"/>
              </a:rPr>
              <a:t>Dataset: MS COCO 2017 (Train + Val)</a:t>
            </a:r>
          </a:p>
          <a:p>
            <a:pPr algn="l" marL="647033" indent="-323516" lvl="1">
              <a:lnSpc>
                <a:spcPts val="4555"/>
              </a:lnSpc>
              <a:buFont typeface="Arial"/>
              <a:buChar char="•"/>
            </a:pPr>
            <a:r>
              <a:rPr lang="en-US" sz="2996">
                <a:solidFill>
                  <a:srgbClr val="FBFFFF"/>
                </a:solidFill>
                <a:latin typeface="DM Sans"/>
                <a:ea typeface="DM Sans"/>
                <a:cs typeface="DM Sans"/>
                <a:sym typeface="DM Sans"/>
              </a:rPr>
              <a:t>Classes: 80 common objects</a:t>
            </a:r>
          </a:p>
          <a:p>
            <a:pPr algn="l" marL="647033" indent="-323516" lvl="1">
              <a:lnSpc>
                <a:spcPts val="4555"/>
              </a:lnSpc>
              <a:buFont typeface="Arial"/>
              <a:buChar char="•"/>
            </a:pPr>
            <a:r>
              <a:rPr lang="en-US" sz="2996">
                <a:solidFill>
                  <a:srgbClr val="FBFFFF"/>
                </a:solidFill>
                <a:latin typeface="DM Sans"/>
                <a:ea typeface="DM Sans"/>
                <a:cs typeface="DM Sans"/>
                <a:sym typeface="DM Sans"/>
              </a:rPr>
              <a:t>Limitation: Will add custom classes (Obstacles, stairs, curbs, etc.) in Project 2</a:t>
            </a:r>
          </a:p>
          <a:p>
            <a:pPr algn="l">
              <a:lnSpc>
                <a:spcPts val="5315"/>
              </a:lnSpc>
            </a:pPr>
          </a:p>
          <a:p>
            <a:pPr algn="l">
              <a:lnSpc>
                <a:spcPts val="5315"/>
              </a:lnSpc>
            </a:pPr>
          </a:p>
          <a:p>
            <a:pPr algn="l">
              <a:lnSpc>
                <a:spcPts val="5315"/>
              </a:lnSpc>
            </a:pPr>
            <a:r>
              <a:rPr lang="en-US" b="true" sz="3496">
                <a:solidFill>
                  <a:srgbClr val="00FFF7"/>
                </a:solidFill>
                <a:latin typeface="DM Sans Bold"/>
                <a:ea typeface="DM Sans Bold"/>
                <a:cs typeface="DM Sans Bold"/>
                <a:sym typeface="DM Sans Bold"/>
              </a:rPr>
              <a:t>Currency Recognition (EfficientNet)</a:t>
            </a:r>
          </a:p>
          <a:p>
            <a:pPr algn="l" marL="647033" indent="-323516" lvl="1">
              <a:lnSpc>
                <a:spcPts val="4555"/>
              </a:lnSpc>
              <a:buFont typeface="Arial"/>
              <a:buChar char="•"/>
            </a:pPr>
            <a:r>
              <a:rPr lang="en-US" sz="2996">
                <a:solidFill>
                  <a:srgbClr val="FBFFFF"/>
                </a:solidFill>
                <a:latin typeface="DM Sans"/>
                <a:ea typeface="DM Sans"/>
                <a:cs typeface="DM Sans"/>
                <a:sym typeface="DM Sans"/>
              </a:rPr>
              <a:t>Dataset: Custom Egyptian currency images </a:t>
            </a:r>
          </a:p>
          <a:p>
            <a:pPr algn="l" marL="647033" indent="-323516" lvl="1">
              <a:lnSpc>
                <a:spcPts val="4555"/>
              </a:lnSpc>
              <a:buFont typeface="Arial"/>
              <a:buChar char="•"/>
            </a:pPr>
            <a:r>
              <a:rPr lang="en-US" sz="2996">
                <a:solidFill>
                  <a:srgbClr val="FBFFFF"/>
                </a:solidFill>
                <a:latin typeface="DM Sans"/>
                <a:ea typeface="DM Sans"/>
                <a:cs typeface="DM Sans"/>
                <a:sym typeface="DM Sans"/>
              </a:rPr>
              <a:t>Classes: All Egyptian currency (5 -&gt; 200)</a:t>
            </a:r>
          </a:p>
        </p:txBody>
      </p:sp>
      <p:sp>
        <p:nvSpPr>
          <p:cNvPr name="AutoShape 3" id="3"/>
          <p:cNvSpPr/>
          <p:nvPr/>
        </p:nvSpPr>
        <p:spPr>
          <a:xfrm>
            <a:off x="6477574" y="1430036"/>
            <a:ext cx="5086995" cy="0"/>
          </a:xfrm>
          <a:prstGeom prst="line">
            <a:avLst/>
          </a:prstGeom>
          <a:ln cap="flat" w="38100">
            <a:gradFill>
              <a:gsLst>
                <a:gs pos="0">
                  <a:srgbClr val="FFFBFB">
                    <a:alpha val="0"/>
                  </a:srgbClr>
                </a:gs>
                <a:gs pos="50000">
                  <a:srgbClr val="FFFFFF">
                    <a:alpha val="10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6530507" y="245761"/>
            <a:ext cx="5034062" cy="118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>
                <a:solidFill>
                  <a:srgbClr val="66FFFF"/>
                </a:solidFill>
                <a:latin typeface="Anton"/>
                <a:ea typeface="Anton"/>
                <a:cs typeface="Anton"/>
                <a:sym typeface="Anton"/>
              </a:rPr>
              <a:t>DATASETS USED</a:t>
            </a:r>
          </a:p>
        </p:txBody>
      </p:sp>
      <p:sp>
        <p:nvSpPr>
          <p:cNvPr name="Freeform 5" id="5"/>
          <p:cNvSpPr/>
          <p:nvPr/>
        </p:nvSpPr>
        <p:spPr>
          <a:xfrm flipH="false" flipV="true" rot="0">
            <a:off x="11310430" y="237350"/>
            <a:ext cx="6726332" cy="6726332"/>
          </a:xfrm>
          <a:custGeom>
            <a:avLst/>
            <a:gdLst/>
            <a:ahLst/>
            <a:cxnLst/>
            <a:rect r="r" b="b" t="t" l="l"/>
            <a:pathLst>
              <a:path h="6726332" w="6726332">
                <a:moveTo>
                  <a:pt x="0" y="6726332"/>
                </a:moveTo>
                <a:lnTo>
                  <a:pt x="6726332" y="6726332"/>
                </a:lnTo>
                <a:lnTo>
                  <a:pt x="6726332" y="0"/>
                </a:lnTo>
                <a:lnTo>
                  <a:pt x="0" y="0"/>
                </a:lnTo>
                <a:lnTo>
                  <a:pt x="0" y="6726332"/>
                </a:lnTo>
                <a:close/>
              </a:path>
            </a:pathLst>
          </a:custGeom>
          <a:blipFill>
            <a:blip r:embed="rId2">
              <a:alphaModFix amt="44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6" id="6"/>
          <p:cNvSpPr txBox="true"/>
          <p:nvPr/>
        </p:nvSpPr>
        <p:spPr>
          <a:xfrm rot="0">
            <a:off x="9144000" y="4028586"/>
            <a:ext cx="8733070" cy="2935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15"/>
              </a:lnSpc>
            </a:pPr>
            <a:r>
              <a:rPr lang="en-US" sz="3496" b="true">
                <a:solidFill>
                  <a:srgbClr val="00FFF7"/>
                </a:solidFill>
                <a:latin typeface="DM Sans Bold"/>
                <a:ea typeface="DM Sans Bold"/>
                <a:cs typeface="DM Sans Bold"/>
                <a:sym typeface="DM Sans Bold"/>
              </a:rPr>
              <a:t>Fac</a:t>
            </a:r>
            <a:r>
              <a:rPr lang="en-US" b="true" sz="3496">
                <a:solidFill>
                  <a:srgbClr val="00FFF7"/>
                </a:solidFill>
                <a:latin typeface="DM Sans Bold"/>
                <a:ea typeface="DM Sans Bold"/>
                <a:cs typeface="DM Sans Bold"/>
                <a:sym typeface="DM Sans Bold"/>
              </a:rPr>
              <a:t>e Recognition (MobileFaceNet)</a:t>
            </a:r>
          </a:p>
          <a:p>
            <a:pPr algn="l" marL="647033" indent="-323516" lvl="1">
              <a:lnSpc>
                <a:spcPts val="4555"/>
              </a:lnSpc>
              <a:buFont typeface="Arial"/>
              <a:buChar char="•"/>
            </a:pPr>
            <a:r>
              <a:rPr lang="en-US" sz="299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Dataset: User-generated (dynamic)</a:t>
            </a:r>
          </a:p>
          <a:p>
            <a:pPr algn="l" marL="647033" indent="-323516" lvl="1">
              <a:lnSpc>
                <a:spcPts val="4555"/>
              </a:lnSpc>
              <a:buFont typeface="Arial"/>
              <a:buChar char="•"/>
            </a:pPr>
            <a:r>
              <a:rPr lang="en-US" sz="299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Approach: Capture 3 photos per person + label name</a:t>
            </a:r>
          </a:p>
          <a:p>
            <a:pPr algn="l" marL="647033" indent="-323516" lvl="1">
              <a:lnSpc>
                <a:spcPts val="4555"/>
              </a:lnSpc>
              <a:buFont typeface="Arial"/>
              <a:buChar char="•"/>
            </a:pPr>
            <a:r>
              <a:rPr lang="en-US" sz="299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Stored: L</a:t>
            </a:r>
            <a:r>
              <a:rPr lang="en-US" sz="299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ocal dat</a:t>
            </a:r>
            <a:r>
              <a:rPr lang="en-US" sz="299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abase (embeddings only)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9C9">
                <a:alpha val="100000"/>
              </a:srgbClr>
            </a:gs>
            <a:gs pos="100000">
              <a:srgbClr val="00FFF7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530507" y="245761"/>
            <a:ext cx="5034062" cy="118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>
                <a:solidFill>
                  <a:srgbClr val="66FFFF"/>
                </a:solidFill>
                <a:latin typeface="Anton"/>
                <a:ea typeface="Anton"/>
                <a:cs typeface="Anton"/>
                <a:sym typeface="Anton"/>
              </a:rPr>
              <a:t>DATASETS USED</a:t>
            </a:r>
          </a:p>
        </p:txBody>
      </p:sp>
      <p:sp>
        <p:nvSpPr>
          <p:cNvPr name="Freeform 3" id="3"/>
          <p:cNvSpPr/>
          <p:nvPr/>
        </p:nvSpPr>
        <p:spPr>
          <a:xfrm flipH="false" flipV="true" rot="0">
            <a:off x="11310430" y="237350"/>
            <a:ext cx="6726332" cy="6726332"/>
          </a:xfrm>
          <a:custGeom>
            <a:avLst/>
            <a:gdLst/>
            <a:ahLst/>
            <a:cxnLst/>
            <a:rect r="r" b="b" t="t" l="l"/>
            <a:pathLst>
              <a:path h="6726332" w="6726332">
                <a:moveTo>
                  <a:pt x="0" y="6726332"/>
                </a:moveTo>
                <a:lnTo>
                  <a:pt x="6726332" y="6726332"/>
                </a:lnTo>
                <a:lnTo>
                  <a:pt x="6726332" y="0"/>
                </a:lnTo>
                <a:lnTo>
                  <a:pt x="0" y="0"/>
                </a:lnTo>
                <a:lnTo>
                  <a:pt x="0" y="6726332"/>
                </a:lnTo>
                <a:close/>
              </a:path>
            </a:pathLst>
          </a:custGeom>
          <a:blipFill>
            <a:blip r:embed="rId2">
              <a:alphaModFix amt="44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4" id="4"/>
          <p:cNvSpPr txBox="true"/>
          <p:nvPr/>
        </p:nvSpPr>
        <p:spPr>
          <a:xfrm rot="0">
            <a:off x="1028700" y="2142427"/>
            <a:ext cx="8733070" cy="64593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15"/>
              </a:lnSpc>
            </a:pPr>
            <a:r>
              <a:rPr lang="en-US" sz="3496" b="true">
                <a:solidFill>
                  <a:srgbClr val="00FFF7"/>
                </a:solidFill>
                <a:latin typeface="DM Sans Bold"/>
                <a:ea typeface="DM Sans Bold"/>
                <a:cs typeface="DM Sans Bold"/>
                <a:sym typeface="DM Sans Bold"/>
              </a:rPr>
              <a:t>T</a:t>
            </a:r>
            <a:r>
              <a:rPr lang="en-US" b="true" sz="3496">
                <a:solidFill>
                  <a:srgbClr val="00FFF7"/>
                </a:solidFill>
                <a:latin typeface="DM Sans Bold"/>
                <a:ea typeface="DM Sans Bold"/>
                <a:cs typeface="DM Sans Bold"/>
                <a:sym typeface="DM Sans Bold"/>
              </a:rPr>
              <a:t>ext Recognition (ML Kit OCR)</a:t>
            </a:r>
          </a:p>
          <a:p>
            <a:pPr algn="l" marL="647033" indent="-323516" lvl="1">
              <a:lnSpc>
                <a:spcPts val="4555"/>
              </a:lnSpc>
              <a:buFont typeface="Arial"/>
              <a:buChar char="•"/>
            </a:pPr>
            <a:r>
              <a:rPr lang="en-US" b="true" sz="2996">
                <a:solidFill>
                  <a:srgbClr val="FBFFFF"/>
                </a:solidFill>
                <a:latin typeface="DM Sans Bold"/>
                <a:ea typeface="DM Sans Bold"/>
                <a:cs typeface="DM Sans Bold"/>
                <a:sym typeface="DM Sans Bold"/>
              </a:rPr>
              <a:t>Dataset: Pre-trained (no custom training)</a:t>
            </a:r>
          </a:p>
          <a:p>
            <a:pPr algn="l" marL="647033" indent="-323516" lvl="1">
              <a:lnSpc>
                <a:spcPts val="4555"/>
              </a:lnSpc>
              <a:buFont typeface="Arial"/>
              <a:buChar char="•"/>
            </a:pPr>
            <a:r>
              <a:rPr lang="en-US" b="true" sz="2996">
                <a:solidFill>
                  <a:srgbClr val="FBFFFF"/>
                </a:solidFill>
                <a:latin typeface="DM Sans Bold"/>
                <a:ea typeface="DM Sans Bold"/>
                <a:cs typeface="DM Sans Bold"/>
                <a:sym typeface="DM Sans Bold"/>
              </a:rPr>
              <a:t>Support: English (current)</a:t>
            </a:r>
          </a:p>
          <a:p>
            <a:pPr algn="l" marL="647033" indent="-323516" lvl="1">
              <a:lnSpc>
                <a:spcPts val="4555"/>
              </a:lnSpc>
              <a:buFont typeface="Arial"/>
              <a:buChar char="•"/>
            </a:pPr>
            <a:r>
              <a:rPr lang="en-US" b="true" sz="2996">
                <a:solidFill>
                  <a:srgbClr val="FBFFFF"/>
                </a:solidFill>
                <a:latin typeface="DM Sans Bold"/>
                <a:ea typeface="DM Sans Bold"/>
                <a:cs typeface="DM Sans Bold"/>
                <a:sym typeface="DM Sans Bold"/>
              </a:rPr>
              <a:t>Limitation: Will solve and add Arabic language to support it</a:t>
            </a:r>
          </a:p>
          <a:p>
            <a:pPr algn="l">
              <a:lnSpc>
                <a:spcPts val="4555"/>
              </a:lnSpc>
            </a:pPr>
          </a:p>
          <a:p>
            <a:pPr algn="l">
              <a:lnSpc>
                <a:spcPts val="4555"/>
              </a:lnSpc>
            </a:pPr>
          </a:p>
          <a:p>
            <a:pPr algn="l">
              <a:lnSpc>
                <a:spcPts val="5315"/>
              </a:lnSpc>
            </a:pPr>
            <a:r>
              <a:rPr lang="en-US" b="true" sz="3496">
                <a:solidFill>
                  <a:srgbClr val="00FFF7"/>
                </a:solidFill>
                <a:latin typeface="DM Sans Bold"/>
                <a:ea typeface="DM Sans Bold"/>
                <a:cs typeface="DM Sans Bold"/>
                <a:sym typeface="DM Sans Bold"/>
              </a:rPr>
              <a:t>Color Identification (OpenCV)</a:t>
            </a:r>
          </a:p>
          <a:p>
            <a:pPr algn="l" marL="647033" indent="-323516" lvl="1">
              <a:lnSpc>
                <a:spcPts val="4555"/>
              </a:lnSpc>
              <a:buFont typeface="Arial"/>
              <a:buChar char="•"/>
            </a:pPr>
            <a:r>
              <a:rPr lang="en-US" sz="2996">
                <a:solidFill>
                  <a:srgbClr val="FBFFFF"/>
                </a:solidFill>
                <a:latin typeface="DM Sans"/>
                <a:ea typeface="DM Sans"/>
                <a:cs typeface="DM Sans"/>
                <a:sym typeface="DM Sans"/>
              </a:rPr>
              <a:t>Dataset: None (image processing only no tr</a:t>
            </a:r>
            <a:r>
              <a:rPr lang="en-US" sz="2996">
                <a:solidFill>
                  <a:srgbClr val="FBFFFF"/>
                </a:solidFill>
                <a:latin typeface="DM Sans"/>
                <a:ea typeface="DM Sans"/>
                <a:cs typeface="DM Sans"/>
                <a:sym typeface="DM Sans"/>
              </a:rPr>
              <a:t>aining</a:t>
            </a:r>
            <a:r>
              <a:rPr lang="en-US" sz="2996">
                <a:solidFill>
                  <a:srgbClr val="FBFFFF"/>
                </a:solidFill>
                <a:latin typeface="DM Sans"/>
                <a:ea typeface="DM Sans"/>
                <a:cs typeface="DM Sans"/>
                <a:sym typeface="DM Sans"/>
              </a:rPr>
              <a:t> need)</a:t>
            </a:r>
          </a:p>
          <a:p>
            <a:pPr algn="l" marL="647033" indent="-323516" lvl="1">
              <a:lnSpc>
                <a:spcPts val="4555"/>
              </a:lnSpc>
              <a:buFont typeface="Arial"/>
              <a:buChar char="•"/>
            </a:pPr>
            <a:r>
              <a:rPr lang="en-US" sz="2996">
                <a:solidFill>
                  <a:srgbClr val="FBFFFF"/>
                </a:solidFill>
                <a:latin typeface="DM Sans"/>
                <a:ea typeface="DM Sans"/>
                <a:cs typeface="DM Sans"/>
                <a:sym typeface="DM Sans"/>
              </a:rPr>
              <a:t>Approach: Pixel analysis → dominant color</a:t>
            </a:r>
          </a:p>
        </p:txBody>
      </p:sp>
      <p:sp>
        <p:nvSpPr>
          <p:cNvPr name="AutoShape 5" id="5"/>
          <p:cNvSpPr/>
          <p:nvPr/>
        </p:nvSpPr>
        <p:spPr>
          <a:xfrm>
            <a:off x="6477574" y="1430036"/>
            <a:ext cx="5086995" cy="0"/>
          </a:xfrm>
          <a:prstGeom prst="line">
            <a:avLst/>
          </a:prstGeom>
          <a:ln cap="flat" w="38100">
            <a:gradFill>
              <a:gsLst>
                <a:gs pos="0">
                  <a:srgbClr val="FFFBFB">
                    <a:alpha val="0"/>
                  </a:srgbClr>
                </a:gs>
                <a:gs pos="50000">
                  <a:srgbClr val="FFFFFF">
                    <a:alpha val="10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9C9">
                <a:alpha val="100000"/>
              </a:srgbClr>
            </a:gs>
            <a:gs pos="100000">
              <a:srgbClr val="00FFF7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27747" y="1551310"/>
            <a:ext cx="13288169" cy="7524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90"/>
              </a:lnSpc>
            </a:pPr>
            <a:r>
              <a:rPr lang="en-US" b="true" sz="3500">
                <a:solidFill>
                  <a:srgbClr val="00FFF7"/>
                </a:solidFill>
                <a:latin typeface="DM Sans Bold"/>
                <a:ea typeface="DM Sans Bold"/>
                <a:cs typeface="DM Sans Bold"/>
                <a:sym typeface="DM Sans Bold"/>
              </a:rPr>
              <a:t>Programming Languages</a:t>
            </a:r>
          </a:p>
          <a:p>
            <a:pPr algn="l" marL="647700" indent="-323850" lvl="1">
              <a:lnSpc>
                <a:spcPts val="582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Python: Model training, evaluation &amp; conversion</a:t>
            </a:r>
          </a:p>
          <a:p>
            <a:pPr algn="l" marL="647700" indent="-323850" lvl="1">
              <a:lnSpc>
                <a:spcPts val="582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Dart: Flutter mobile app development</a:t>
            </a:r>
          </a:p>
          <a:p>
            <a:pPr algn="l">
              <a:lnSpc>
                <a:spcPts val="5820"/>
              </a:lnSpc>
            </a:pPr>
          </a:p>
          <a:p>
            <a:pPr algn="l">
              <a:lnSpc>
                <a:spcPts val="6789"/>
              </a:lnSpc>
            </a:pPr>
            <a:r>
              <a:rPr lang="en-US" b="true" sz="3499">
                <a:solidFill>
                  <a:srgbClr val="00FFF7"/>
                </a:solidFill>
                <a:latin typeface="DM Sans Bold"/>
                <a:ea typeface="DM Sans Bold"/>
                <a:cs typeface="DM Sans Bold"/>
                <a:sym typeface="DM Sans Bold"/>
              </a:rPr>
              <a:t>Core Frameworks &amp; Libraries</a:t>
            </a:r>
          </a:p>
          <a:p>
            <a:pPr algn="l" marL="647700" indent="-323850" lvl="1">
              <a:lnSpc>
                <a:spcPts val="582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Flutter: Cross-platform UI (Android/iOS)</a:t>
            </a:r>
          </a:p>
          <a:p>
            <a:pPr algn="l" marL="647700" indent="-323850" lvl="1">
              <a:lnSpc>
                <a:spcPts val="582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TensorFlow Lite: Offline model inference (all models converted to .tflite)</a:t>
            </a:r>
          </a:p>
          <a:p>
            <a:pPr algn="l" marL="647700" indent="-323850" lvl="1">
              <a:lnSpc>
                <a:spcPts val="582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OpenCV: Color detection &amp; image processing</a:t>
            </a:r>
          </a:p>
          <a:p>
            <a:pPr algn="l" marL="647700" indent="-323850" lvl="1">
              <a:lnSpc>
                <a:spcPts val="582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ML Kit (Google): Offline OCR (text extraction – English + Arabic planned)</a:t>
            </a:r>
          </a:p>
          <a:p>
            <a:pPr algn="l" marL="647700" indent="-323850" lvl="1">
              <a:lnSpc>
                <a:spcPts val="582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gTTS / Platform TTS: Voice output (Arabic/English)</a:t>
            </a:r>
          </a:p>
        </p:txBody>
      </p:sp>
      <p:sp>
        <p:nvSpPr>
          <p:cNvPr name="AutoShape 3" id="3"/>
          <p:cNvSpPr/>
          <p:nvPr/>
        </p:nvSpPr>
        <p:spPr>
          <a:xfrm>
            <a:off x="4868196" y="1430036"/>
            <a:ext cx="8358684" cy="0"/>
          </a:xfrm>
          <a:prstGeom prst="line">
            <a:avLst/>
          </a:prstGeom>
          <a:ln cap="flat" w="38100">
            <a:gradFill>
              <a:gsLst>
                <a:gs pos="0">
                  <a:srgbClr val="FFFBFB">
                    <a:alpha val="0"/>
                  </a:srgbClr>
                </a:gs>
                <a:gs pos="50000">
                  <a:srgbClr val="FFFFFF">
                    <a:alpha val="10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4868196" y="245761"/>
            <a:ext cx="8358684" cy="118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>
                <a:solidFill>
                  <a:srgbClr val="66FFFF"/>
                </a:solidFill>
                <a:latin typeface="Anton"/>
                <a:ea typeface="Anton"/>
                <a:cs typeface="Anton"/>
                <a:sym typeface="Anton"/>
              </a:rPr>
              <a:t>TOOLS AND TECHNOLOGIES</a:t>
            </a:r>
          </a:p>
        </p:txBody>
      </p:sp>
      <p:sp>
        <p:nvSpPr>
          <p:cNvPr name="Freeform 5" id="5"/>
          <p:cNvSpPr/>
          <p:nvPr/>
        </p:nvSpPr>
        <p:spPr>
          <a:xfrm flipH="false" flipV="true" rot="0">
            <a:off x="11310430" y="237350"/>
            <a:ext cx="6726332" cy="6726332"/>
          </a:xfrm>
          <a:custGeom>
            <a:avLst/>
            <a:gdLst/>
            <a:ahLst/>
            <a:cxnLst/>
            <a:rect r="r" b="b" t="t" l="l"/>
            <a:pathLst>
              <a:path h="6726332" w="6726332">
                <a:moveTo>
                  <a:pt x="0" y="6726332"/>
                </a:moveTo>
                <a:lnTo>
                  <a:pt x="6726332" y="6726332"/>
                </a:lnTo>
                <a:lnTo>
                  <a:pt x="6726332" y="0"/>
                </a:lnTo>
                <a:lnTo>
                  <a:pt x="0" y="0"/>
                </a:lnTo>
                <a:lnTo>
                  <a:pt x="0" y="6726332"/>
                </a:lnTo>
                <a:close/>
              </a:path>
            </a:pathLst>
          </a:custGeom>
          <a:blipFill>
            <a:blip r:embed="rId2">
              <a:alphaModFix amt="44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9C9">
                <a:alpha val="100000"/>
              </a:srgbClr>
            </a:gs>
            <a:gs pos="100000">
              <a:srgbClr val="00FFF7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19792" y="1705313"/>
            <a:ext cx="11061960" cy="5438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b="true" sz="3500">
                <a:solidFill>
                  <a:srgbClr val="00FFFF"/>
                </a:solidFill>
                <a:latin typeface="DM Sans Bold"/>
                <a:ea typeface="DM Sans Bold"/>
                <a:cs typeface="DM Sans Bold"/>
                <a:sym typeface="DM Sans Bold"/>
              </a:rPr>
              <a:t>Object Detection</a:t>
            </a:r>
          </a:p>
          <a:p>
            <a:pPr algn="l">
              <a:lnSpc>
                <a:spcPts val="6720"/>
              </a:lnSpc>
            </a:pPr>
            <a:r>
              <a:rPr lang="en-US" sz="3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→ </a:t>
            </a:r>
            <a:r>
              <a:rPr lang="en-US" sz="3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YOLO11n.tflite (80 classes, lightweight, real-time)</a:t>
            </a:r>
          </a:p>
          <a:p>
            <a:pPr algn="l">
              <a:lnSpc>
                <a:spcPts val="7840"/>
              </a:lnSpc>
            </a:pPr>
            <a:r>
              <a:rPr lang="en-US" b="true" sz="3500">
                <a:solidFill>
                  <a:srgbClr val="00FFFF"/>
                </a:solidFill>
                <a:latin typeface="DM Sans Bold"/>
                <a:ea typeface="DM Sans Bold"/>
                <a:cs typeface="DM Sans Bold"/>
                <a:sym typeface="DM Sans Bold"/>
              </a:rPr>
              <a:t>Currency Recognition</a:t>
            </a:r>
          </a:p>
          <a:p>
            <a:pPr algn="l">
              <a:lnSpc>
                <a:spcPts val="6720"/>
              </a:lnSpc>
            </a:pPr>
            <a:r>
              <a:rPr lang="en-US" sz="3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→ </a:t>
            </a:r>
            <a:r>
              <a:rPr lang="en-US" sz="3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EfficientNet.tflite (custom-tuned on EGP notes)</a:t>
            </a:r>
          </a:p>
          <a:p>
            <a:pPr algn="l">
              <a:lnSpc>
                <a:spcPts val="7840"/>
              </a:lnSpc>
            </a:pPr>
            <a:r>
              <a:rPr lang="en-US" b="true" sz="3500">
                <a:solidFill>
                  <a:srgbClr val="00FFF7"/>
                </a:solidFill>
                <a:latin typeface="DM Sans Bold"/>
                <a:ea typeface="DM Sans Bold"/>
                <a:cs typeface="DM Sans Bold"/>
                <a:sym typeface="DM Sans Bold"/>
              </a:rPr>
              <a:t>Face Recognition </a:t>
            </a:r>
          </a:p>
          <a:p>
            <a:pPr algn="l">
              <a:lnSpc>
                <a:spcPts val="6720"/>
              </a:lnSpc>
            </a:pPr>
            <a:r>
              <a:rPr lang="en-US" sz="3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→ MobileFaceNet.tflite (embeddings + cosine similarity)</a:t>
            </a:r>
          </a:p>
        </p:txBody>
      </p:sp>
      <p:sp>
        <p:nvSpPr>
          <p:cNvPr name="AutoShape 3" id="3"/>
          <p:cNvSpPr/>
          <p:nvPr/>
        </p:nvSpPr>
        <p:spPr>
          <a:xfrm>
            <a:off x="5289082" y="1430036"/>
            <a:ext cx="7516912" cy="0"/>
          </a:xfrm>
          <a:prstGeom prst="line">
            <a:avLst/>
          </a:prstGeom>
          <a:ln cap="flat" w="38100">
            <a:gradFill>
              <a:gsLst>
                <a:gs pos="0">
                  <a:srgbClr val="FFFBFB">
                    <a:alpha val="0"/>
                  </a:srgbClr>
                </a:gs>
                <a:gs pos="50000">
                  <a:srgbClr val="FFFFFF">
                    <a:alpha val="10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5289082" y="245761"/>
            <a:ext cx="7516912" cy="118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>
                <a:solidFill>
                  <a:srgbClr val="66FFFF"/>
                </a:solidFill>
                <a:latin typeface="Anton"/>
                <a:ea typeface="Anton"/>
                <a:cs typeface="Anton"/>
                <a:sym typeface="Anton"/>
              </a:rPr>
              <a:t>AI MODELS INTEGRATED</a:t>
            </a:r>
          </a:p>
        </p:txBody>
      </p:sp>
      <p:sp>
        <p:nvSpPr>
          <p:cNvPr name="Freeform 5" id="5"/>
          <p:cNvSpPr/>
          <p:nvPr/>
        </p:nvSpPr>
        <p:spPr>
          <a:xfrm flipH="false" flipV="true" rot="0">
            <a:off x="11310430" y="237350"/>
            <a:ext cx="6726332" cy="6726332"/>
          </a:xfrm>
          <a:custGeom>
            <a:avLst/>
            <a:gdLst/>
            <a:ahLst/>
            <a:cxnLst/>
            <a:rect r="r" b="b" t="t" l="l"/>
            <a:pathLst>
              <a:path h="6726332" w="6726332">
                <a:moveTo>
                  <a:pt x="0" y="6726332"/>
                </a:moveTo>
                <a:lnTo>
                  <a:pt x="6726332" y="6726332"/>
                </a:lnTo>
                <a:lnTo>
                  <a:pt x="6726332" y="0"/>
                </a:lnTo>
                <a:lnTo>
                  <a:pt x="0" y="0"/>
                </a:lnTo>
                <a:lnTo>
                  <a:pt x="0" y="6726332"/>
                </a:lnTo>
                <a:close/>
              </a:path>
            </a:pathLst>
          </a:custGeom>
          <a:blipFill>
            <a:blip r:embed="rId2">
              <a:alphaModFix amt="44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9C9">
                <a:alpha val="100000"/>
              </a:srgbClr>
            </a:gs>
            <a:gs pos="100000">
              <a:srgbClr val="00FFF7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23101" y="2227916"/>
            <a:ext cx="3469963" cy="7701273"/>
          </a:xfrm>
          <a:custGeom>
            <a:avLst/>
            <a:gdLst/>
            <a:ahLst/>
            <a:cxnLst/>
            <a:rect r="r" b="b" t="t" l="l"/>
            <a:pathLst>
              <a:path h="7701273" w="3469963">
                <a:moveTo>
                  <a:pt x="0" y="0"/>
                </a:moveTo>
                <a:lnTo>
                  <a:pt x="3469963" y="0"/>
                </a:lnTo>
                <a:lnTo>
                  <a:pt x="3469963" y="7701273"/>
                </a:lnTo>
                <a:lnTo>
                  <a:pt x="0" y="77012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" t="0" r="-10" b="-333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12762" y="1562452"/>
            <a:ext cx="5327948" cy="59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b="true" sz="3499">
                <a:solidFill>
                  <a:srgbClr val="66FFFF"/>
                </a:solidFill>
                <a:latin typeface="DM Sans Bold"/>
                <a:ea typeface="DM Sans Bold"/>
                <a:cs typeface="DM Sans Bold"/>
                <a:sym typeface="DM Sans Bold"/>
              </a:rPr>
              <a:t>Object Detection Screen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6904252" y="2140905"/>
            <a:ext cx="3616328" cy="7788284"/>
          </a:xfrm>
          <a:custGeom>
            <a:avLst/>
            <a:gdLst/>
            <a:ahLst/>
            <a:cxnLst/>
            <a:rect r="r" b="b" t="t" l="l"/>
            <a:pathLst>
              <a:path h="7788284" w="3616328">
                <a:moveTo>
                  <a:pt x="0" y="0"/>
                </a:moveTo>
                <a:lnTo>
                  <a:pt x="3616328" y="0"/>
                </a:lnTo>
                <a:lnTo>
                  <a:pt x="3616328" y="7788284"/>
                </a:lnTo>
                <a:lnTo>
                  <a:pt x="0" y="77882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337" r="0" b="-3098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340048" y="1562452"/>
            <a:ext cx="5008364" cy="59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b="true" sz="3499">
                <a:solidFill>
                  <a:srgbClr val="66FFFF"/>
                </a:solidFill>
                <a:latin typeface="DM Sans Bold"/>
                <a:ea typeface="DM Sans Bold"/>
                <a:cs typeface="DM Sans Bold"/>
                <a:sym typeface="DM Sans Bold"/>
              </a:rPr>
              <a:t>Color Detection Screen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364209" y="1562452"/>
            <a:ext cx="4861719" cy="59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b="true" sz="3499">
                <a:solidFill>
                  <a:srgbClr val="66FFFF"/>
                </a:solidFill>
                <a:latin typeface="DM Sans Bold"/>
                <a:ea typeface="DM Sans Bold"/>
                <a:cs typeface="DM Sans Bold"/>
                <a:sym typeface="DM Sans Bold"/>
              </a:rPr>
              <a:t>Text Extraction Screen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2949429" y="2227916"/>
            <a:ext cx="3424979" cy="7701273"/>
          </a:xfrm>
          <a:custGeom>
            <a:avLst/>
            <a:gdLst/>
            <a:ahLst/>
            <a:cxnLst/>
            <a:rect r="r" b="b" t="t" l="l"/>
            <a:pathLst>
              <a:path h="7701273" w="3424979">
                <a:moveTo>
                  <a:pt x="0" y="0"/>
                </a:moveTo>
                <a:lnTo>
                  <a:pt x="3424980" y="0"/>
                </a:lnTo>
                <a:lnTo>
                  <a:pt x="3424980" y="7701273"/>
                </a:lnTo>
                <a:lnTo>
                  <a:pt x="0" y="770127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683" t="0" r="-683" b="0"/>
            </a:stretch>
          </a:blipFill>
        </p:spPr>
      </p:sp>
      <p:sp>
        <p:nvSpPr>
          <p:cNvPr name="AutoShape 8" id="8"/>
          <p:cNvSpPr/>
          <p:nvPr/>
        </p:nvSpPr>
        <p:spPr>
          <a:xfrm>
            <a:off x="5289082" y="1430036"/>
            <a:ext cx="8372971" cy="0"/>
          </a:xfrm>
          <a:prstGeom prst="line">
            <a:avLst/>
          </a:prstGeom>
          <a:ln cap="flat" w="38100">
            <a:gradFill>
              <a:gsLst>
                <a:gs pos="0">
                  <a:srgbClr val="FFFBFB">
                    <a:alpha val="0"/>
                  </a:srgbClr>
                </a:gs>
                <a:gs pos="50000">
                  <a:srgbClr val="FFFFFF">
                    <a:alpha val="10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4433023" y="245761"/>
            <a:ext cx="9229031" cy="118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>
                <a:solidFill>
                  <a:srgbClr val="66FFFF"/>
                </a:solidFill>
                <a:latin typeface="Anton"/>
                <a:ea typeface="Anton"/>
                <a:cs typeface="Anton"/>
                <a:sym typeface="Anton"/>
              </a:rPr>
              <a:t>PROTOTYPE (SCREENSHOOTS)</a:t>
            </a:r>
          </a:p>
        </p:txBody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9C9">
                <a:alpha val="100000"/>
              </a:srgbClr>
            </a:gs>
            <a:gs pos="100000">
              <a:srgbClr val="00FFF7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04717" y="2286182"/>
            <a:ext cx="12267486" cy="5795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15"/>
              </a:lnSpc>
            </a:pPr>
            <a:r>
              <a:rPr lang="en-US" b="true" sz="3500">
                <a:solidFill>
                  <a:srgbClr val="00FFF7"/>
                </a:solidFill>
                <a:latin typeface="DM Sans Bold"/>
                <a:ea typeface="DM Sans Bold"/>
                <a:cs typeface="DM Sans Bold"/>
                <a:sym typeface="DM Sans Bold"/>
              </a:rPr>
              <a:t>Object Detection (YOLO11n)</a:t>
            </a:r>
          </a:p>
          <a:p>
            <a:pPr algn="l" marL="647700" indent="-323850" lvl="1">
              <a:lnSpc>
                <a:spcPts val="447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Extend beyond 80 COCO classes</a:t>
            </a:r>
          </a:p>
          <a:p>
            <a:pPr algn="l" marL="647700" indent="-323850" lvl="1">
              <a:lnSpc>
                <a:spcPts val="447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Add user-relevant classes (obstacles, stairs, doors, traffic lights, …)</a:t>
            </a:r>
          </a:p>
          <a:p>
            <a:pPr algn="l" marL="647700" indent="-323850" lvl="1">
              <a:lnSpc>
                <a:spcPts val="447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Collect custom dataset → retrain &amp; convert to TFLite</a:t>
            </a:r>
          </a:p>
          <a:p>
            <a:pPr algn="l">
              <a:lnSpc>
                <a:spcPts val="4470"/>
              </a:lnSpc>
            </a:pPr>
          </a:p>
          <a:p>
            <a:pPr algn="l">
              <a:lnSpc>
                <a:spcPts val="5215"/>
              </a:lnSpc>
            </a:pPr>
            <a:r>
              <a:rPr lang="en-US" b="true" sz="3500">
                <a:solidFill>
                  <a:srgbClr val="00FFF7"/>
                </a:solidFill>
                <a:latin typeface="DM Sans Bold"/>
                <a:ea typeface="DM Sans Bold"/>
                <a:cs typeface="DM Sans Bold"/>
                <a:sym typeface="DM Sans Bold"/>
              </a:rPr>
              <a:t>Currency Recognition (EfficientNet)</a:t>
            </a:r>
          </a:p>
          <a:p>
            <a:pPr algn="l" marL="647700" indent="-323850" lvl="1">
              <a:lnSpc>
                <a:spcPts val="447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Retrain for higher accuracy</a:t>
            </a:r>
          </a:p>
          <a:p>
            <a:pPr algn="l" marL="647700" indent="-323850" lvl="1">
              <a:lnSpc>
                <a:spcPts val="447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Fix TFLite conversion issues</a:t>
            </a:r>
          </a:p>
          <a:p>
            <a:pPr algn="l" marL="647700" indent="-323850" lvl="1">
              <a:lnSpc>
                <a:spcPts val="447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Test in different lighting/backgrounds</a:t>
            </a:r>
          </a:p>
          <a:p>
            <a:pPr algn="l" marL="647700" indent="-323850" lvl="1">
              <a:lnSpc>
                <a:spcPts val="447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Integrate into app</a:t>
            </a:r>
          </a:p>
        </p:txBody>
      </p:sp>
      <p:sp>
        <p:nvSpPr>
          <p:cNvPr name="AutoShape 3" id="3"/>
          <p:cNvSpPr/>
          <p:nvPr/>
        </p:nvSpPr>
        <p:spPr>
          <a:xfrm>
            <a:off x="5289082" y="1430036"/>
            <a:ext cx="7983210" cy="0"/>
          </a:xfrm>
          <a:prstGeom prst="line">
            <a:avLst/>
          </a:prstGeom>
          <a:ln cap="flat" w="38100">
            <a:gradFill>
              <a:gsLst>
                <a:gs pos="0">
                  <a:srgbClr val="FFFBFB">
                    <a:alpha val="0"/>
                  </a:srgbClr>
                </a:gs>
                <a:gs pos="50000">
                  <a:srgbClr val="FFFFFF">
                    <a:alpha val="10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4822784" y="245761"/>
            <a:ext cx="8449509" cy="118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>
                <a:solidFill>
                  <a:srgbClr val="66FFFF"/>
                </a:solidFill>
                <a:latin typeface="Anton"/>
                <a:ea typeface="Anton"/>
                <a:cs typeface="Anton"/>
                <a:sym typeface="Anton"/>
              </a:rPr>
              <a:t>AI MODEL ENHANCEMENTS</a:t>
            </a:r>
          </a:p>
        </p:txBody>
      </p:sp>
      <p:sp>
        <p:nvSpPr>
          <p:cNvPr name="Freeform 5" id="5"/>
          <p:cNvSpPr/>
          <p:nvPr/>
        </p:nvSpPr>
        <p:spPr>
          <a:xfrm flipH="false" flipV="true" rot="0">
            <a:off x="11310430" y="237350"/>
            <a:ext cx="6726332" cy="6726332"/>
          </a:xfrm>
          <a:custGeom>
            <a:avLst/>
            <a:gdLst/>
            <a:ahLst/>
            <a:cxnLst/>
            <a:rect r="r" b="b" t="t" l="l"/>
            <a:pathLst>
              <a:path h="6726332" w="6726332">
                <a:moveTo>
                  <a:pt x="0" y="6726332"/>
                </a:moveTo>
                <a:lnTo>
                  <a:pt x="6726332" y="6726332"/>
                </a:lnTo>
                <a:lnTo>
                  <a:pt x="6726332" y="0"/>
                </a:lnTo>
                <a:lnTo>
                  <a:pt x="0" y="0"/>
                </a:lnTo>
                <a:lnTo>
                  <a:pt x="0" y="6726332"/>
                </a:lnTo>
                <a:close/>
              </a:path>
            </a:pathLst>
          </a:custGeom>
          <a:blipFill>
            <a:blip r:embed="rId2">
              <a:alphaModFix amt="44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9C9">
                <a:alpha val="100000"/>
              </a:srgbClr>
            </a:gs>
            <a:gs pos="100000">
              <a:srgbClr val="00FFF7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5289082" y="1430036"/>
            <a:ext cx="7983210" cy="0"/>
          </a:xfrm>
          <a:prstGeom prst="line">
            <a:avLst/>
          </a:prstGeom>
          <a:ln cap="flat" w="38100">
            <a:gradFill>
              <a:gsLst>
                <a:gs pos="0">
                  <a:srgbClr val="FFFBFB">
                    <a:alpha val="0"/>
                  </a:srgbClr>
                </a:gs>
                <a:gs pos="50000">
                  <a:srgbClr val="FFFFFF">
                    <a:alpha val="10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4822784" y="245761"/>
            <a:ext cx="8449509" cy="118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>
                <a:solidFill>
                  <a:srgbClr val="66FFFF"/>
                </a:solidFill>
                <a:latin typeface="Anton"/>
                <a:ea typeface="Anton"/>
                <a:cs typeface="Anton"/>
                <a:sym typeface="Anton"/>
              </a:rPr>
              <a:t>AI MODEL ENHANCEMENTS</a:t>
            </a:r>
          </a:p>
        </p:txBody>
      </p:sp>
      <p:sp>
        <p:nvSpPr>
          <p:cNvPr name="Freeform 4" id="4"/>
          <p:cNvSpPr/>
          <p:nvPr/>
        </p:nvSpPr>
        <p:spPr>
          <a:xfrm flipH="false" flipV="true" rot="0">
            <a:off x="11310430" y="237350"/>
            <a:ext cx="6726332" cy="6726332"/>
          </a:xfrm>
          <a:custGeom>
            <a:avLst/>
            <a:gdLst/>
            <a:ahLst/>
            <a:cxnLst/>
            <a:rect r="r" b="b" t="t" l="l"/>
            <a:pathLst>
              <a:path h="6726332" w="6726332">
                <a:moveTo>
                  <a:pt x="0" y="6726332"/>
                </a:moveTo>
                <a:lnTo>
                  <a:pt x="6726332" y="6726332"/>
                </a:lnTo>
                <a:lnTo>
                  <a:pt x="6726332" y="0"/>
                </a:lnTo>
                <a:lnTo>
                  <a:pt x="0" y="0"/>
                </a:lnTo>
                <a:lnTo>
                  <a:pt x="0" y="6726332"/>
                </a:lnTo>
                <a:close/>
              </a:path>
            </a:pathLst>
          </a:custGeom>
          <a:blipFill>
            <a:blip r:embed="rId2">
              <a:alphaModFix amt="44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5" id="5"/>
          <p:cNvSpPr txBox="true"/>
          <p:nvPr/>
        </p:nvSpPr>
        <p:spPr>
          <a:xfrm rot="0">
            <a:off x="2193966" y="2167257"/>
            <a:ext cx="10488216" cy="6924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15"/>
              </a:lnSpc>
            </a:pPr>
            <a:r>
              <a:rPr lang="en-US" b="true" sz="3500">
                <a:solidFill>
                  <a:srgbClr val="00FFF7"/>
                </a:solidFill>
                <a:latin typeface="DM Sans Bold"/>
                <a:ea typeface="DM Sans Bold"/>
                <a:cs typeface="DM Sans Bold"/>
                <a:sym typeface="DM Sans Bold"/>
              </a:rPr>
              <a:t>Text Extraction (ML Kit OCR)</a:t>
            </a:r>
          </a:p>
          <a:p>
            <a:pPr algn="l" marL="647700" indent="-323850" lvl="1">
              <a:lnSpc>
                <a:spcPts val="447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Add full Arabic support</a:t>
            </a:r>
          </a:p>
          <a:p>
            <a:pPr algn="l" marL="647700" indent="-323850" lvl="1">
              <a:lnSpc>
                <a:spcPts val="447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Text and try to improve accuracy</a:t>
            </a:r>
          </a:p>
          <a:p>
            <a:pPr algn="l">
              <a:lnSpc>
                <a:spcPts val="4470"/>
              </a:lnSpc>
            </a:pPr>
          </a:p>
          <a:p>
            <a:pPr algn="l">
              <a:lnSpc>
                <a:spcPts val="5215"/>
              </a:lnSpc>
            </a:pPr>
            <a:r>
              <a:rPr lang="en-US" b="true" sz="3500">
                <a:solidFill>
                  <a:srgbClr val="00FFF7"/>
                </a:solidFill>
                <a:latin typeface="DM Sans Bold"/>
                <a:ea typeface="DM Sans Bold"/>
                <a:cs typeface="DM Sans Bold"/>
                <a:sym typeface="DM Sans Bold"/>
              </a:rPr>
              <a:t>Fa</a:t>
            </a:r>
            <a:r>
              <a:rPr lang="en-US" b="true" sz="3500">
                <a:solidFill>
                  <a:srgbClr val="00FFF7"/>
                </a:solidFill>
                <a:latin typeface="DM Sans Bold"/>
                <a:ea typeface="DM Sans Bold"/>
                <a:cs typeface="DM Sans Bold"/>
                <a:sym typeface="DM Sans Bold"/>
              </a:rPr>
              <a:t>ce Recognition (MobileFaceNet)</a:t>
            </a:r>
          </a:p>
          <a:p>
            <a:pPr algn="l" marL="647700" indent="-323850" lvl="1">
              <a:lnSpc>
                <a:spcPts val="447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Fix emb</a:t>
            </a:r>
            <a:r>
              <a:rPr lang="en-US" sz="3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edding storage &amp; database issues</a:t>
            </a:r>
          </a:p>
          <a:p>
            <a:pPr algn="l" marL="647700" indent="-323850" lvl="1">
              <a:lnSpc>
                <a:spcPts val="447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Improve reliability (multiple photos, unknown faces)</a:t>
            </a:r>
          </a:p>
          <a:p>
            <a:pPr algn="l">
              <a:lnSpc>
                <a:spcPts val="4062"/>
              </a:lnSpc>
            </a:pPr>
          </a:p>
          <a:p>
            <a:pPr algn="l">
              <a:lnSpc>
                <a:spcPts val="5215"/>
              </a:lnSpc>
            </a:pPr>
            <a:r>
              <a:rPr lang="en-US" b="true" sz="3500">
                <a:solidFill>
                  <a:srgbClr val="00FFF7"/>
                </a:solidFill>
                <a:latin typeface="DM Sans Bold"/>
                <a:ea typeface="DM Sans Bold"/>
                <a:cs typeface="DM Sans Bold"/>
                <a:sym typeface="DM Sans Bold"/>
              </a:rPr>
              <a:t>Color Detection (OpenCV)</a:t>
            </a:r>
          </a:p>
          <a:p>
            <a:pPr algn="l" marL="647700" indent="-323850" lvl="1">
              <a:lnSpc>
                <a:spcPts val="447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Enhance to handle multiple colors &amp; better descriptions</a:t>
            </a:r>
          </a:p>
          <a:p>
            <a:pPr algn="l" marL="647700" indent="-323850" lvl="1">
              <a:lnSpc>
                <a:spcPts val="447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Improve accuracy in real-world lighting</a:t>
            </a:r>
          </a:p>
          <a:p>
            <a:pPr algn="l">
              <a:lnSpc>
                <a:spcPts val="4062"/>
              </a:lnSpc>
            </a:pPr>
          </a:p>
        </p:txBody>
      </p: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9C9">
                <a:alpha val="100000"/>
              </a:srgbClr>
            </a:gs>
            <a:gs pos="100000">
              <a:srgbClr val="00FFF7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297232" y="2056147"/>
            <a:ext cx="7634526" cy="7040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70"/>
              </a:lnSpc>
            </a:pPr>
            <a:r>
              <a:rPr lang="en-US" sz="3500" b="true">
                <a:solidFill>
                  <a:srgbClr val="00FFF7"/>
                </a:solidFill>
                <a:latin typeface="DM Sans Bold"/>
                <a:ea typeface="DM Sans Bold"/>
                <a:cs typeface="DM Sans Bold"/>
                <a:sym typeface="DM Sans Bold"/>
              </a:rPr>
              <a:t>Voice Command System</a:t>
            </a:r>
          </a:p>
          <a:p>
            <a:pPr algn="l" marL="647700" indent="-323850" lvl="1">
              <a:lnSpc>
                <a:spcPts val="546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Expand vocabulary (more commands)</a:t>
            </a:r>
          </a:p>
          <a:p>
            <a:pPr algn="l" marL="647700" indent="-323850" lvl="1">
              <a:lnSpc>
                <a:spcPts val="546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Improve Arabic recognition accuracy</a:t>
            </a:r>
          </a:p>
          <a:p>
            <a:pPr algn="l" marL="647700" indent="-323850" lvl="1">
              <a:lnSpc>
                <a:spcPts val="546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Add customization &amp; error handling</a:t>
            </a:r>
          </a:p>
          <a:p>
            <a:pPr algn="l">
              <a:lnSpc>
                <a:spcPts val="5460"/>
              </a:lnSpc>
            </a:pPr>
          </a:p>
          <a:p>
            <a:pPr algn="l">
              <a:lnSpc>
                <a:spcPts val="6370"/>
              </a:lnSpc>
            </a:pPr>
            <a:r>
              <a:rPr lang="en-US" sz="3500" b="true">
                <a:solidFill>
                  <a:srgbClr val="00FFF7"/>
                </a:solidFill>
                <a:latin typeface="DM Sans Bold"/>
                <a:ea typeface="DM Sans Bold"/>
                <a:cs typeface="DM Sans Bold"/>
                <a:sym typeface="DM Sans Bold"/>
              </a:rPr>
              <a:t>Mobile Application Refinement</a:t>
            </a:r>
          </a:p>
          <a:p>
            <a:pPr algn="l" marL="647700" indent="-323850" lvl="1">
              <a:lnSpc>
                <a:spcPts val="546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Improve voice feedback clarity &amp; timing</a:t>
            </a:r>
          </a:p>
          <a:p>
            <a:pPr algn="l" marL="647700" indent="-323850" lvl="1">
              <a:lnSpc>
                <a:spcPts val="546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Optimize performance &amp; battery use</a:t>
            </a:r>
          </a:p>
          <a:p>
            <a:pPr algn="l" marL="647700" indent="-323850" lvl="1">
              <a:lnSpc>
                <a:spcPts val="546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Test on different devices</a:t>
            </a:r>
          </a:p>
          <a:p>
            <a:pPr algn="l" marL="647700" indent="-323850" lvl="1">
              <a:lnSpc>
                <a:spcPts val="546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Fix bugs &amp; stabilize integration</a:t>
            </a:r>
          </a:p>
        </p:txBody>
      </p:sp>
      <p:sp>
        <p:nvSpPr>
          <p:cNvPr name="AutoShape 3" id="3"/>
          <p:cNvSpPr/>
          <p:nvPr/>
        </p:nvSpPr>
        <p:spPr>
          <a:xfrm>
            <a:off x="5006855" y="1430036"/>
            <a:ext cx="7358658" cy="0"/>
          </a:xfrm>
          <a:prstGeom prst="line">
            <a:avLst/>
          </a:prstGeom>
          <a:ln cap="flat" w="38100">
            <a:gradFill>
              <a:gsLst>
                <a:gs pos="0">
                  <a:srgbClr val="FFFBFB">
                    <a:alpha val="0"/>
                  </a:srgbClr>
                </a:gs>
                <a:gs pos="50000">
                  <a:srgbClr val="FFFFFF">
                    <a:alpha val="10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5729564" y="245761"/>
            <a:ext cx="6635948" cy="118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>
                <a:solidFill>
                  <a:srgbClr val="66FFFF"/>
                </a:solidFill>
                <a:latin typeface="Anton"/>
                <a:ea typeface="Anton"/>
                <a:cs typeface="Anton"/>
                <a:sym typeface="Anton"/>
              </a:rPr>
              <a:t>APP IMPROVEMENTS</a:t>
            </a:r>
          </a:p>
        </p:txBody>
      </p:sp>
      <p:sp>
        <p:nvSpPr>
          <p:cNvPr name="Freeform 5" id="5"/>
          <p:cNvSpPr/>
          <p:nvPr/>
        </p:nvSpPr>
        <p:spPr>
          <a:xfrm flipH="false" flipV="true" rot="0">
            <a:off x="11310430" y="237350"/>
            <a:ext cx="6726332" cy="6726332"/>
          </a:xfrm>
          <a:custGeom>
            <a:avLst/>
            <a:gdLst/>
            <a:ahLst/>
            <a:cxnLst/>
            <a:rect r="r" b="b" t="t" l="l"/>
            <a:pathLst>
              <a:path h="6726332" w="6726332">
                <a:moveTo>
                  <a:pt x="0" y="6726332"/>
                </a:moveTo>
                <a:lnTo>
                  <a:pt x="6726332" y="6726332"/>
                </a:lnTo>
                <a:lnTo>
                  <a:pt x="6726332" y="0"/>
                </a:lnTo>
                <a:lnTo>
                  <a:pt x="0" y="0"/>
                </a:lnTo>
                <a:lnTo>
                  <a:pt x="0" y="6726332"/>
                </a:lnTo>
                <a:close/>
              </a:path>
            </a:pathLst>
          </a:custGeom>
          <a:blipFill>
            <a:blip r:embed="rId2">
              <a:alphaModFix amt="44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9C9">
                <a:alpha val="100000"/>
              </a:srgbClr>
            </a:gs>
            <a:gs pos="100000">
              <a:srgbClr val="00FFF7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5006855" y="1430036"/>
            <a:ext cx="7732465" cy="0"/>
          </a:xfrm>
          <a:prstGeom prst="line">
            <a:avLst/>
          </a:prstGeom>
          <a:ln cap="flat" w="38100">
            <a:gradFill>
              <a:gsLst>
                <a:gs pos="0">
                  <a:srgbClr val="FFFBFB">
                    <a:alpha val="0"/>
                  </a:srgbClr>
                </a:gs>
                <a:gs pos="50000">
                  <a:srgbClr val="FFFFFF">
                    <a:alpha val="10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5355757" y="245761"/>
            <a:ext cx="7383562" cy="118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>
                <a:solidFill>
                  <a:srgbClr val="66FFFF"/>
                </a:solidFill>
                <a:latin typeface="Anton"/>
                <a:ea typeface="Anton"/>
                <a:cs typeface="Anton"/>
                <a:sym typeface="Anton"/>
              </a:rPr>
              <a:t>OTHER IMPROVEMENTS</a:t>
            </a:r>
          </a:p>
        </p:txBody>
      </p:sp>
      <p:sp>
        <p:nvSpPr>
          <p:cNvPr name="Freeform 4" id="4"/>
          <p:cNvSpPr/>
          <p:nvPr/>
        </p:nvSpPr>
        <p:spPr>
          <a:xfrm flipH="false" flipV="true" rot="0">
            <a:off x="11310430" y="237350"/>
            <a:ext cx="6726332" cy="6726332"/>
          </a:xfrm>
          <a:custGeom>
            <a:avLst/>
            <a:gdLst/>
            <a:ahLst/>
            <a:cxnLst/>
            <a:rect r="r" b="b" t="t" l="l"/>
            <a:pathLst>
              <a:path h="6726332" w="6726332">
                <a:moveTo>
                  <a:pt x="0" y="6726332"/>
                </a:moveTo>
                <a:lnTo>
                  <a:pt x="6726332" y="6726332"/>
                </a:lnTo>
                <a:lnTo>
                  <a:pt x="6726332" y="0"/>
                </a:lnTo>
                <a:lnTo>
                  <a:pt x="0" y="0"/>
                </a:lnTo>
                <a:lnTo>
                  <a:pt x="0" y="6726332"/>
                </a:lnTo>
                <a:close/>
              </a:path>
            </a:pathLst>
          </a:custGeom>
          <a:blipFill>
            <a:blip r:embed="rId2">
              <a:alphaModFix amt="44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5" id="5"/>
          <p:cNvSpPr txBox="true"/>
          <p:nvPr/>
        </p:nvSpPr>
        <p:spPr>
          <a:xfrm rot="0">
            <a:off x="2115667" y="2026802"/>
            <a:ext cx="8670131" cy="7040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70"/>
              </a:lnSpc>
            </a:pPr>
            <a:r>
              <a:rPr lang="en-US" sz="3500" b="true">
                <a:solidFill>
                  <a:srgbClr val="00FFF7"/>
                </a:solidFill>
                <a:latin typeface="DM Sans Bold"/>
                <a:ea typeface="DM Sans Bold"/>
                <a:cs typeface="DM Sans Bold"/>
                <a:sym typeface="DM Sans Bold"/>
              </a:rPr>
              <a:t>Surveys &amp; Interviews</a:t>
            </a:r>
          </a:p>
          <a:p>
            <a:pPr algn="l" marL="647700" indent="-323850" lvl="1">
              <a:lnSpc>
                <a:spcPts val="546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Visit T</a:t>
            </a:r>
            <a:r>
              <a:rPr lang="en-US" sz="3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aha Hussein Center (late January 2026)</a:t>
            </a:r>
          </a:p>
          <a:p>
            <a:pPr algn="l" marL="647700" indent="-323850" lvl="1">
              <a:lnSpc>
                <a:spcPts val="546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Show prototype to 10–20 blind students</a:t>
            </a:r>
          </a:p>
          <a:p>
            <a:pPr algn="l" marL="647700" indent="-323850" lvl="1">
              <a:lnSpc>
                <a:spcPts val="546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D</a:t>
            </a:r>
            <a:r>
              <a:rPr lang="en-US" sz="3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o structured interviews &amp; survey</a:t>
            </a:r>
          </a:p>
          <a:p>
            <a:pPr algn="l" marL="647700" indent="-323850" lvl="1">
              <a:lnSpc>
                <a:spcPts val="546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Use</a:t>
            </a:r>
            <a:r>
              <a:rPr lang="en-US" sz="3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results to fix bugs &amp; add features</a:t>
            </a:r>
          </a:p>
          <a:p>
            <a:pPr algn="l">
              <a:lnSpc>
                <a:spcPts val="5460"/>
              </a:lnSpc>
            </a:pPr>
          </a:p>
          <a:p>
            <a:pPr algn="l" marL="755651" indent="-377825" lvl="1">
              <a:lnSpc>
                <a:spcPts val="6370"/>
              </a:lnSpc>
              <a:buFont typeface="Arial"/>
              <a:buChar char="•"/>
            </a:pPr>
            <a:r>
              <a:rPr lang="en-US" b="true" sz="3500">
                <a:solidFill>
                  <a:srgbClr val="00FFF7"/>
                </a:solidFill>
                <a:latin typeface="DM Sans Bold"/>
                <a:ea typeface="DM Sans Bold"/>
                <a:cs typeface="DM Sans Bold"/>
                <a:sym typeface="DM Sans Bold"/>
              </a:rPr>
              <a:t>Documentation &amp; Final Report</a:t>
            </a:r>
          </a:p>
          <a:p>
            <a:pPr algn="l" marL="647700" indent="-323850" lvl="1">
              <a:lnSpc>
                <a:spcPts val="546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U</a:t>
            </a:r>
            <a:r>
              <a:rPr lang="en-US" sz="3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pdate report with testing results</a:t>
            </a:r>
          </a:p>
          <a:p>
            <a:pPr algn="l" marL="647700" indent="-323850" lvl="1">
              <a:lnSpc>
                <a:spcPts val="546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Add full code explanations</a:t>
            </a:r>
          </a:p>
          <a:p>
            <a:pPr algn="l" marL="647700" indent="-323850" lvl="1">
              <a:lnSpc>
                <a:spcPts val="546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Prepare f</a:t>
            </a:r>
            <a:r>
              <a:rPr lang="en-US" sz="3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inal presentation &amp; demo</a:t>
            </a:r>
          </a:p>
        </p:txBody>
      </p:sp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9C9">
                <a:alpha val="100000"/>
              </a:srgbClr>
            </a:gs>
            <a:gs pos="100000">
              <a:srgbClr val="00FFF7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1569" y="1871345"/>
            <a:ext cx="10429728" cy="7080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49" indent="-377824" lvl="1">
              <a:lnSpc>
                <a:spcPts val="4899"/>
              </a:lnSpc>
              <a:buAutoNum type="arabicPeriod" startAt="1"/>
            </a:pPr>
            <a:r>
              <a:rPr lang="en-US" b="true" sz="3499">
                <a:solidFill>
                  <a:srgbClr val="00FFF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</a:t>
            </a:r>
            <a:r>
              <a:rPr lang="en-US" b="true" sz="3499">
                <a:solidFill>
                  <a:srgbClr val="00FFF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del Performance Limitations:</a:t>
            </a:r>
          </a:p>
          <a:p>
            <a:pPr algn="l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Risk </a:t>
            </a:r>
            <a:r>
              <a:rPr lang="en-US" sz="3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:</a:t>
            </a:r>
          </a:p>
          <a:p>
            <a:pPr algn="l" marL="1295403" indent="-431801" lvl="2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Low accuracy or slow speed on mobile</a:t>
            </a:r>
          </a:p>
          <a:p>
            <a:pPr algn="l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Solutions</a:t>
            </a:r>
            <a:r>
              <a:rPr lang="en-US" sz="3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:</a:t>
            </a:r>
          </a:p>
          <a:p>
            <a:pPr algn="l" marL="1295403" indent="-431801" lvl="2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Test lightweight architectures</a:t>
            </a:r>
          </a:p>
          <a:p>
            <a:pPr algn="l" marL="1295403" indent="-431801" lvl="2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Fine Tuning, Evaluate and Optimize models </a:t>
            </a:r>
          </a:p>
          <a:p>
            <a:pPr algn="l">
              <a:lnSpc>
                <a:spcPts val="4200"/>
              </a:lnSpc>
            </a:pPr>
          </a:p>
          <a:p>
            <a:pPr algn="l" marL="755649" indent="-377824" lvl="1">
              <a:lnSpc>
                <a:spcPts val="4899"/>
              </a:lnSpc>
              <a:buAutoNum type="arabicPeriod" startAt="1"/>
            </a:pPr>
            <a:r>
              <a:rPr lang="en-US" b="true" sz="3499">
                <a:solidFill>
                  <a:srgbClr val="00FFF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TensorFlow Lite Conversion Issues:</a:t>
            </a:r>
          </a:p>
          <a:p>
            <a:pPr algn="l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Risk</a:t>
            </a:r>
            <a:r>
              <a:rPr lang="en-US" sz="3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:</a:t>
            </a:r>
          </a:p>
          <a:p>
            <a:pPr algn="l" marL="1295403" indent="-431801" lvl="2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Models fail to convert correctly</a:t>
            </a:r>
          </a:p>
          <a:p>
            <a:pPr algn="l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Solutions</a:t>
            </a:r>
            <a:r>
              <a:rPr lang="en-US" sz="3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:</a:t>
            </a:r>
          </a:p>
          <a:p>
            <a:pPr algn="l" marL="1295403" indent="-431801" lvl="2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Redesign for mobile compatibility</a:t>
            </a:r>
          </a:p>
          <a:p>
            <a:pPr algn="l" marL="1295403" indent="-431801" lvl="2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Avoid unsupported operations</a:t>
            </a:r>
          </a:p>
        </p:txBody>
      </p:sp>
      <p:sp>
        <p:nvSpPr>
          <p:cNvPr name="AutoShape 3" id="3"/>
          <p:cNvSpPr/>
          <p:nvPr/>
        </p:nvSpPr>
        <p:spPr>
          <a:xfrm>
            <a:off x="3278105" y="1430036"/>
            <a:ext cx="11445242" cy="0"/>
          </a:xfrm>
          <a:prstGeom prst="line">
            <a:avLst/>
          </a:prstGeom>
          <a:ln cap="flat" w="38100">
            <a:gradFill>
              <a:gsLst>
                <a:gs pos="0">
                  <a:srgbClr val="FFFBFB">
                    <a:alpha val="0"/>
                  </a:srgbClr>
                </a:gs>
                <a:gs pos="50000">
                  <a:srgbClr val="FFFFFF">
                    <a:alpha val="10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true" rot="0">
            <a:off x="11310430" y="237350"/>
            <a:ext cx="6726332" cy="6726332"/>
          </a:xfrm>
          <a:custGeom>
            <a:avLst/>
            <a:gdLst/>
            <a:ahLst/>
            <a:cxnLst/>
            <a:rect r="r" b="b" t="t" l="l"/>
            <a:pathLst>
              <a:path h="6726332" w="6726332">
                <a:moveTo>
                  <a:pt x="0" y="6726332"/>
                </a:moveTo>
                <a:lnTo>
                  <a:pt x="6726332" y="6726332"/>
                </a:lnTo>
                <a:lnTo>
                  <a:pt x="6726332" y="0"/>
                </a:lnTo>
                <a:lnTo>
                  <a:pt x="0" y="0"/>
                </a:lnTo>
                <a:lnTo>
                  <a:pt x="0" y="6726332"/>
                </a:lnTo>
                <a:close/>
              </a:path>
            </a:pathLst>
          </a:custGeom>
          <a:blipFill>
            <a:blip r:embed="rId2">
              <a:alphaModFix amt="44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5" id="5"/>
          <p:cNvSpPr txBox="true"/>
          <p:nvPr/>
        </p:nvSpPr>
        <p:spPr>
          <a:xfrm rot="0">
            <a:off x="3390780" y="245761"/>
            <a:ext cx="11313518" cy="118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>
                <a:solidFill>
                  <a:srgbClr val="66FFFF"/>
                </a:solidFill>
                <a:latin typeface="Anton"/>
                <a:ea typeface="Anton"/>
                <a:cs typeface="Anton"/>
                <a:sym typeface="Anton"/>
              </a:rPr>
              <a:t>ANTICIPATED RISKS AND SOLUTIONS</a:t>
            </a:r>
          </a:p>
        </p:txBody>
      </p:sp>
    </p:spTree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9C9">
                <a:alpha val="100000"/>
              </a:srgbClr>
            </a:gs>
            <a:gs pos="100000">
              <a:srgbClr val="00FFF7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3127999" y="1430036"/>
            <a:ext cx="11595349" cy="0"/>
          </a:xfrm>
          <a:prstGeom prst="line">
            <a:avLst/>
          </a:prstGeom>
          <a:ln cap="flat" w="38100">
            <a:gradFill>
              <a:gsLst>
                <a:gs pos="0">
                  <a:srgbClr val="FFFBFB">
                    <a:alpha val="0"/>
                  </a:srgbClr>
                </a:gs>
                <a:gs pos="50000">
                  <a:srgbClr val="FFFFFF">
                    <a:alpha val="10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true" rot="0">
            <a:off x="11310430" y="237350"/>
            <a:ext cx="6726332" cy="6726332"/>
          </a:xfrm>
          <a:custGeom>
            <a:avLst/>
            <a:gdLst/>
            <a:ahLst/>
            <a:cxnLst/>
            <a:rect r="r" b="b" t="t" l="l"/>
            <a:pathLst>
              <a:path h="6726332" w="6726332">
                <a:moveTo>
                  <a:pt x="0" y="6726332"/>
                </a:moveTo>
                <a:lnTo>
                  <a:pt x="6726332" y="6726332"/>
                </a:lnTo>
                <a:lnTo>
                  <a:pt x="6726332" y="0"/>
                </a:lnTo>
                <a:lnTo>
                  <a:pt x="0" y="0"/>
                </a:lnTo>
                <a:lnTo>
                  <a:pt x="0" y="6726332"/>
                </a:lnTo>
                <a:close/>
              </a:path>
            </a:pathLst>
          </a:custGeom>
          <a:blipFill>
            <a:blip r:embed="rId2">
              <a:alphaModFix amt="44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4" id="4"/>
          <p:cNvSpPr txBox="true"/>
          <p:nvPr/>
        </p:nvSpPr>
        <p:spPr>
          <a:xfrm rot="0">
            <a:off x="661569" y="1871345"/>
            <a:ext cx="13331791" cy="7080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49" indent="-377824" lvl="1">
              <a:lnSpc>
                <a:spcPts val="4899"/>
              </a:lnSpc>
              <a:buAutoNum type="arabicPeriod" startAt="1"/>
            </a:pPr>
            <a:r>
              <a:rPr lang="en-US" b="true" sz="3499">
                <a:solidFill>
                  <a:srgbClr val="00FFF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Arabic OCR Accuracy:</a:t>
            </a:r>
          </a:p>
          <a:p>
            <a:pPr algn="l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Risk</a:t>
            </a:r>
            <a:r>
              <a:rPr lang="en-US" sz="3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:</a:t>
            </a:r>
          </a:p>
          <a:p>
            <a:pPr algn="l" marL="1295403" indent="-431801" lvl="2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Offline Arabic text extraction may be incomplete or not accurate</a:t>
            </a:r>
          </a:p>
          <a:p>
            <a:pPr algn="l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Solutions</a:t>
            </a:r>
            <a:r>
              <a:rPr lang="en-US" b="true" sz="30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:</a:t>
            </a:r>
          </a:p>
          <a:p>
            <a:pPr algn="l" marL="1295403" indent="-431801" lvl="2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</a:t>
            </a:r>
            <a:r>
              <a:rPr lang="en-US" sz="3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est multiple OCR engines</a:t>
            </a:r>
          </a:p>
          <a:p>
            <a:pPr algn="l" marL="1295403" indent="-431801" lvl="2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Improv</a:t>
            </a:r>
            <a:r>
              <a:rPr lang="en-US" sz="3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 image quality (preprocessing)</a:t>
            </a:r>
          </a:p>
          <a:p>
            <a:pPr algn="l">
              <a:lnSpc>
                <a:spcPts val="4200"/>
              </a:lnSpc>
            </a:pPr>
          </a:p>
          <a:p>
            <a:pPr algn="l" marL="755649" indent="-377824" lvl="1">
              <a:lnSpc>
                <a:spcPts val="4899"/>
              </a:lnSpc>
              <a:buAutoNum type="arabicPeriod" startAt="1"/>
            </a:pPr>
            <a:r>
              <a:rPr lang="en-US" b="true" sz="3499">
                <a:solidFill>
                  <a:srgbClr val="00FFF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</a:t>
            </a:r>
            <a:r>
              <a:rPr lang="en-US" b="true" sz="3499">
                <a:solidFill>
                  <a:srgbClr val="00FFF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ace Recognition Storage &amp; Privacy:</a:t>
            </a:r>
          </a:p>
          <a:p>
            <a:pPr algn="l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Risk</a:t>
            </a:r>
            <a:r>
              <a:rPr lang="en-US" sz="3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:</a:t>
            </a:r>
          </a:p>
          <a:p>
            <a:pPr algn="l" marL="1295403" indent="-431801" lvl="2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Data corruption or privacy issues with embeddings</a:t>
            </a:r>
          </a:p>
          <a:p>
            <a:pPr algn="l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Solutions</a:t>
            </a:r>
            <a:r>
              <a:rPr lang="en-US" b="true" sz="30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:</a:t>
            </a:r>
          </a:p>
          <a:p>
            <a:pPr algn="l" marL="1295403" indent="-431801" lvl="2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Us</a:t>
            </a:r>
            <a:r>
              <a:rPr lang="en-US" sz="3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 secure local storage</a:t>
            </a:r>
          </a:p>
          <a:p>
            <a:pPr algn="l" marL="1295403" indent="-431801" lvl="2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Add user consent &amp; deletion options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390780" y="245761"/>
            <a:ext cx="11313518" cy="118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>
                <a:solidFill>
                  <a:srgbClr val="66FFFF"/>
                </a:solidFill>
                <a:latin typeface="Anton"/>
                <a:ea typeface="Anton"/>
                <a:cs typeface="Anton"/>
                <a:sym typeface="Anton"/>
              </a:rPr>
              <a:t>ANTICIPATED RISKS AND SOLUTIONS</a:t>
            </a:r>
          </a:p>
        </p:txBody>
      </p:sp>
    </p:spTree>
  </p:cSld>
  <p:clrMapOvr>
    <a:masterClrMapping/>
  </p:clrMapOvr>
</p:sld>
</file>

<file path=ppt/slides/slide3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9C9">
                <a:alpha val="100000"/>
              </a:srgbClr>
            </a:gs>
            <a:gs pos="100000">
              <a:srgbClr val="00FFF7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3127999" y="1430036"/>
            <a:ext cx="11595349" cy="0"/>
          </a:xfrm>
          <a:prstGeom prst="line">
            <a:avLst/>
          </a:prstGeom>
          <a:ln cap="flat" w="38100">
            <a:gradFill>
              <a:gsLst>
                <a:gs pos="0">
                  <a:srgbClr val="FFFBFB">
                    <a:alpha val="0"/>
                  </a:srgbClr>
                </a:gs>
                <a:gs pos="50000">
                  <a:srgbClr val="FFFFFF">
                    <a:alpha val="10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true" rot="0">
            <a:off x="11310430" y="237350"/>
            <a:ext cx="6726332" cy="6726332"/>
          </a:xfrm>
          <a:custGeom>
            <a:avLst/>
            <a:gdLst/>
            <a:ahLst/>
            <a:cxnLst/>
            <a:rect r="r" b="b" t="t" l="l"/>
            <a:pathLst>
              <a:path h="6726332" w="6726332">
                <a:moveTo>
                  <a:pt x="0" y="6726332"/>
                </a:moveTo>
                <a:lnTo>
                  <a:pt x="6726332" y="6726332"/>
                </a:lnTo>
                <a:lnTo>
                  <a:pt x="6726332" y="0"/>
                </a:lnTo>
                <a:lnTo>
                  <a:pt x="0" y="0"/>
                </a:lnTo>
                <a:lnTo>
                  <a:pt x="0" y="6726332"/>
                </a:lnTo>
                <a:close/>
              </a:path>
            </a:pathLst>
          </a:custGeom>
          <a:blipFill>
            <a:blip r:embed="rId2">
              <a:alphaModFix amt="44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4" id="4"/>
          <p:cNvSpPr txBox="true"/>
          <p:nvPr/>
        </p:nvSpPr>
        <p:spPr>
          <a:xfrm rot="0">
            <a:off x="661569" y="1871345"/>
            <a:ext cx="11830724" cy="6546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49" indent="-377824" lvl="1">
              <a:lnSpc>
                <a:spcPts val="4899"/>
              </a:lnSpc>
              <a:buAutoNum type="arabicPeriod" startAt="1"/>
            </a:pPr>
            <a:r>
              <a:rPr lang="en-US" b="true" sz="3499">
                <a:solidFill>
                  <a:srgbClr val="00FFF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Voice Command Recognition Errors:</a:t>
            </a:r>
          </a:p>
          <a:p>
            <a:pPr algn="l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Risk </a:t>
            </a:r>
            <a:r>
              <a:rPr lang="en-US" sz="3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:</a:t>
            </a:r>
          </a:p>
          <a:p>
            <a:pPr algn="l" marL="1295403" indent="-431801" lvl="2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Misinterpretation due to no</a:t>
            </a:r>
            <a:r>
              <a:rPr lang="en-US" sz="3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</a:t>
            </a:r>
            <a:r>
              <a:rPr lang="en-US" sz="3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se/</a:t>
            </a:r>
            <a:r>
              <a:rPr lang="en-US" sz="3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</a:t>
            </a:r>
            <a:r>
              <a:rPr lang="en-US" sz="3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ccen</a:t>
            </a:r>
            <a:r>
              <a:rPr lang="en-US" sz="3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</a:t>
            </a:r>
            <a:r>
              <a:rPr lang="en-US" sz="3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</a:t>
            </a:r>
          </a:p>
          <a:p>
            <a:pPr algn="l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Solutions</a:t>
            </a:r>
            <a:r>
              <a:rPr lang="en-US" sz="3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:</a:t>
            </a:r>
          </a:p>
          <a:p>
            <a:pPr algn="l" marL="1295403" indent="-431801" lvl="2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Add</a:t>
            </a:r>
            <a:r>
              <a:rPr lang="en-US" sz="3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confirmation </a:t>
            </a:r>
            <a:r>
              <a:rPr lang="en-US" sz="3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pro</a:t>
            </a:r>
            <a:r>
              <a:rPr lang="en-US" sz="3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mpts</a:t>
            </a:r>
          </a:p>
          <a:p>
            <a:pPr algn="l" marL="1295403" indent="-431801" lvl="2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Use keyword activation (hold-to-speak)</a:t>
            </a:r>
          </a:p>
          <a:p>
            <a:pPr algn="l">
              <a:lnSpc>
                <a:spcPts val="4200"/>
              </a:lnSpc>
            </a:pPr>
          </a:p>
          <a:p>
            <a:pPr algn="l" marL="755649" indent="-377824" lvl="1">
              <a:lnSpc>
                <a:spcPts val="4899"/>
              </a:lnSpc>
              <a:buAutoNum type="arabicPeriod" startAt="1"/>
            </a:pPr>
            <a:r>
              <a:rPr lang="en-US" b="true" sz="3499">
                <a:solidFill>
                  <a:srgbClr val="00FFF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Limited Access to Target Users:</a:t>
            </a:r>
          </a:p>
          <a:p>
            <a:pPr algn="l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Risk</a:t>
            </a:r>
            <a:r>
              <a:rPr lang="en-US" sz="3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:</a:t>
            </a:r>
          </a:p>
          <a:p>
            <a:pPr algn="l" marL="1295403" indent="-431801" lvl="2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Difficulty reaching blind people for surveys &amp; testing</a:t>
            </a:r>
          </a:p>
          <a:p>
            <a:pPr algn="l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Solutions</a:t>
            </a:r>
            <a:r>
              <a:rPr lang="en-US" sz="3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:</a:t>
            </a:r>
          </a:p>
          <a:p>
            <a:pPr algn="l" marL="1295403" indent="-431801" lvl="2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Visit </a:t>
            </a:r>
            <a:r>
              <a:rPr lang="en-US" sz="3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Taha Hussein Center and conduct survey &amp; interview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390780" y="245761"/>
            <a:ext cx="11313518" cy="118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>
                <a:solidFill>
                  <a:srgbClr val="66FFFF"/>
                </a:solidFill>
                <a:latin typeface="Anton"/>
                <a:ea typeface="Anton"/>
                <a:cs typeface="Anton"/>
                <a:sym typeface="Anton"/>
              </a:rPr>
              <a:t>ANTICIPATED RISKS AND SOLUTIONS</a:t>
            </a:r>
          </a:p>
        </p:txBody>
      </p:sp>
    </p:spTree>
  </p:cSld>
  <p:clrMapOvr>
    <a:masterClrMapping/>
  </p:clrMapOvr>
</p:sld>
</file>

<file path=ppt/slides/slide3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9C9">
                <a:alpha val="100000"/>
              </a:srgbClr>
            </a:gs>
            <a:gs pos="100000">
              <a:srgbClr val="00FFF7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058480" y="245761"/>
            <a:ext cx="3978116" cy="118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>
                <a:solidFill>
                  <a:srgbClr val="66FFFF"/>
                </a:solidFill>
                <a:latin typeface="Anton"/>
                <a:ea typeface="Anton"/>
                <a:cs typeface="Anton"/>
                <a:sym typeface="Anton"/>
              </a:rPr>
              <a:t>CONCLUSION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56101" y="2222772"/>
            <a:ext cx="9407880" cy="4740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59"/>
              </a:lnSpc>
            </a:pPr>
            <a:r>
              <a:rPr lang="en-US" sz="3499" b="true">
                <a:solidFill>
                  <a:srgbClr val="00FFF7"/>
                </a:solidFill>
                <a:latin typeface="DM Sans Bold"/>
                <a:ea typeface="DM Sans Bold"/>
                <a:cs typeface="DM Sans Bold"/>
                <a:sym typeface="DM Sans Bold"/>
              </a:rPr>
              <a:t>What We Achieved in Project 1</a:t>
            </a:r>
          </a:p>
          <a:p>
            <a:pPr algn="l" marL="647700" indent="-323850" lvl="1">
              <a:lnSpc>
                <a:spcPts val="528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Clear problem definition &amp; strong motivation</a:t>
            </a:r>
          </a:p>
          <a:p>
            <a:pPr algn="l" marL="647700" indent="-323850" lvl="1">
              <a:lnSpc>
                <a:spcPts val="528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Detailed requirements &amp; user-centered design</a:t>
            </a:r>
          </a:p>
          <a:p>
            <a:pPr algn="l" marL="647700" indent="-323850" lvl="1">
              <a:lnSpc>
                <a:spcPts val="528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Comprehensive system design (diagrams, pseudocode, architecture)</a:t>
            </a:r>
          </a:p>
          <a:p>
            <a:pPr algn="l" marL="647700" indent="-323850" lvl="1">
              <a:lnSpc>
                <a:spcPts val="528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Early working prototype (voice-first, offline core)</a:t>
            </a:r>
          </a:p>
          <a:p>
            <a:pPr algn="l" marL="647700" indent="-323850" lvl="1">
              <a:lnSpc>
                <a:spcPts val="528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Deep analysis of related work &amp; tools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963982" y="2255570"/>
            <a:ext cx="7730154" cy="5201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b="true" sz="3500">
                <a:solidFill>
                  <a:srgbClr val="00FFF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Project Vision</a:t>
            </a:r>
          </a:p>
          <a:p>
            <a:pPr algn="l" marL="647721" indent="-323861" lvl="1">
              <a:lnSpc>
                <a:spcPts val="528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Fully offline AI vision assistant</a:t>
            </a:r>
          </a:p>
          <a:p>
            <a:pPr algn="l" marL="647721" indent="-323861" lvl="1">
              <a:lnSpc>
                <a:spcPts val="528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5 core features: Object, Currency, Color, Text, Face</a:t>
            </a:r>
          </a:p>
          <a:p>
            <a:pPr algn="l" marL="647721" indent="-323861" lvl="1">
              <a:lnSpc>
                <a:spcPts val="528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Voice-first, privacy-safe, Arabic-supported</a:t>
            </a:r>
          </a:p>
          <a:p>
            <a:pPr algn="l" marL="647721" indent="-323861" lvl="1">
              <a:lnSpc>
                <a:spcPts val="528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Real impact: Independence &amp; safety for visually impaired users</a:t>
            </a:r>
          </a:p>
        </p:txBody>
      </p:sp>
      <p:sp>
        <p:nvSpPr>
          <p:cNvPr name="AutoShape 5" id="5"/>
          <p:cNvSpPr/>
          <p:nvPr/>
        </p:nvSpPr>
        <p:spPr>
          <a:xfrm>
            <a:off x="7058480" y="1430036"/>
            <a:ext cx="3978116" cy="0"/>
          </a:xfrm>
          <a:prstGeom prst="line">
            <a:avLst/>
          </a:prstGeom>
          <a:ln cap="flat" w="38100">
            <a:gradFill>
              <a:gsLst>
                <a:gs pos="0">
                  <a:srgbClr val="FFFBFB">
                    <a:alpha val="0"/>
                  </a:srgbClr>
                </a:gs>
                <a:gs pos="50000">
                  <a:srgbClr val="FFFFFF">
                    <a:alpha val="10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true" rot="0">
            <a:off x="11310430" y="237350"/>
            <a:ext cx="6726332" cy="6726332"/>
          </a:xfrm>
          <a:custGeom>
            <a:avLst/>
            <a:gdLst/>
            <a:ahLst/>
            <a:cxnLst/>
            <a:rect r="r" b="b" t="t" l="l"/>
            <a:pathLst>
              <a:path h="6726332" w="6726332">
                <a:moveTo>
                  <a:pt x="0" y="6726332"/>
                </a:moveTo>
                <a:lnTo>
                  <a:pt x="6726332" y="6726332"/>
                </a:lnTo>
                <a:lnTo>
                  <a:pt x="6726332" y="0"/>
                </a:lnTo>
                <a:lnTo>
                  <a:pt x="0" y="0"/>
                </a:lnTo>
                <a:lnTo>
                  <a:pt x="0" y="6726332"/>
                </a:lnTo>
                <a:close/>
              </a:path>
            </a:pathLst>
          </a:custGeom>
          <a:blipFill>
            <a:blip r:embed="rId2">
              <a:alphaModFix amt="44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7" id="7"/>
          <p:cNvSpPr txBox="true"/>
          <p:nvPr/>
        </p:nvSpPr>
        <p:spPr>
          <a:xfrm rot="0">
            <a:off x="3065453" y="7695610"/>
            <a:ext cx="11032502" cy="1201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b="true" sz="3500">
                <a:solidFill>
                  <a:srgbClr val="00FFF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Looking Forward</a:t>
            </a:r>
          </a:p>
          <a:p>
            <a:pPr algn="l" marL="647721" indent="-323861" lvl="1">
              <a:lnSpc>
                <a:spcPts val="528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Project 2: </a:t>
            </a:r>
            <a:r>
              <a:rPr lang="en-US" sz="3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Full implementation, user testing, final delivery</a:t>
            </a:r>
          </a:p>
        </p:txBody>
      </p:sp>
    </p:spTree>
  </p:cSld>
  <p:clrMapOvr>
    <a:masterClrMapping/>
  </p:clrMapOvr>
</p:sld>
</file>

<file path=ppt/slides/slide4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9C9">
                <a:alpha val="100000"/>
              </a:srgbClr>
            </a:gs>
            <a:gs pos="100000">
              <a:srgbClr val="00FFF7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11310430" y="237350"/>
            <a:ext cx="6726332" cy="6726332"/>
          </a:xfrm>
          <a:custGeom>
            <a:avLst/>
            <a:gdLst/>
            <a:ahLst/>
            <a:cxnLst/>
            <a:rect r="r" b="b" t="t" l="l"/>
            <a:pathLst>
              <a:path h="6726332" w="6726332">
                <a:moveTo>
                  <a:pt x="0" y="6726332"/>
                </a:moveTo>
                <a:lnTo>
                  <a:pt x="6726332" y="6726332"/>
                </a:lnTo>
                <a:lnTo>
                  <a:pt x="6726332" y="0"/>
                </a:lnTo>
                <a:lnTo>
                  <a:pt x="0" y="0"/>
                </a:lnTo>
                <a:lnTo>
                  <a:pt x="0" y="6726332"/>
                </a:lnTo>
                <a:close/>
              </a:path>
            </a:pathLst>
          </a:custGeom>
          <a:blipFill>
            <a:blip r:embed="rId2">
              <a:alphaModFix amt="44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3" id="3"/>
          <p:cNvSpPr txBox="true"/>
          <p:nvPr/>
        </p:nvSpPr>
        <p:spPr>
          <a:xfrm rot="0">
            <a:off x="8508669" y="5736030"/>
            <a:ext cx="6819966" cy="919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68"/>
              </a:lnSpc>
            </a:pPr>
            <a:r>
              <a:rPr lang="en-US" sz="5406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Get In Touch with Us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472728" y="3122578"/>
            <a:ext cx="8891849" cy="28461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233"/>
              </a:lnSpc>
              <a:spcBef>
                <a:spcPct val="0"/>
              </a:spcBef>
            </a:pPr>
            <a:r>
              <a:rPr lang="en-US" sz="16595" strike="noStrike" u="none">
                <a:solidFill>
                  <a:srgbClr val="66FFFF"/>
                </a:solidFill>
                <a:latin typeface="Anton"/>
                <a:ea typeface="Anton"/>
                <a:cs typeface="Anton"/>
                <a:sym typeface="Anton"/>
              </a:rPr>
              <a:t>THANK YOU!</a:t>
            </a:r>
          </a:p>
        </p:txBody>
      </p:sp>
      <p:sp>
        <p:nvSpPr>
          <p:cNvPr name="Freeform 5" id="5"/>
          <p:cNvSpPr/>
          <p:nvPr/>
        </p:nvSpPr>
        <p:spPr>
          <a:xfrm flipH="true" flipV="false" rot="0">
            <a:off x="280809" y="2799902"/>
            <a:ext cx="7191919" cy="7191919"/>
          </a:xfrm>
          <a:custGeom>
            <a:avLst/>
            <a:gdLst/>
            <a:ahLst/>
            <a:cxnLst/>
            <a:rect r="r" b="b" t="t" l="l"/>
            <a:pathLst>
              <a:path h="7191919" w="7191919">
                <a:moveTo>
                  <a:pt x="7191919" y="0"/>
                </a:moveTo>
                <a:lnTo>
                  <a:pt x="0" y="0"/>
                </a:lnTo>
                <a:lnTo>
                  <a:pt x="0" y="7191920"/>
                </a:lnTo>
                <a:lnTo>
                  <a:pt x="7191919" y="7191920"/>
                </a:lnTo>
                <a:lnTo>
                  <a:pt x="7191919" y="0"/>
                </a:lnTo>
                <a:close/>
              </a:path>
            </a:pathLst>
          </a:custGeom>
          <a:blipFill>
            <a:blip r:embed="rId2">
              <a:alphaModFix amt="44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60113" y="2075610"/>
            <a:ext cx="6217307" cy="6427667"/>
          </a:xfrm>
          <a:custGeom>
            <a:avLst/>
            <a:gdLst/>
            <a:ahLst/>
            <a:cxnLst/>
            <a:rect r="r" b="b" t="t" l="l"/>
            <a:pathLst>
              <a:path h="6427667" w="6217307">
                <a:moveTo>
                  <a:pt x="0" y="0"/>
                </a:moveTo>
                <a:lnTo>
                  <a:pt x="6217307" y="0"/>
                </a:lnTo>
                <a:lnTo>
                  <a:pt x="6217307" y="6427667"/>
                </a:lnTo>
                <a:lnTo>
                  <a:pt x="0" y="642766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-6991096">
            <a:off x="922579" y="1865592"/>
            <a:ext cx="3593592" cy="8229600"/>
          </a:xfrm>
          <a:custGeom>
            <a:avLst/>
            <a:gdLst/>
            <a:ahLst/>
            <a:cxnLst/>
            <a:rect r="r" b="b" t="t" l="l"/>
            <a:pathLst>
              <a:path h="8229600" w="3593592">
                <a:moveTo>
                  <a:pt x="0" y="8229600"/>
                </a:moveTo>
                <a:lnTo>
                  <a:pt x="3593592" y="8229600"/>
                </a:lnTo>
                <a:lnTo>
                  <a:pt x="3593592" y="0"/>
                </a:lnTo>
                <a:lnTo>
                  <a:pt x="0" y="0"/>
                </a:lnTo>
                <a:lnTo>
                  <a:pt x="0" y="822960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AutoShape 8" id="8"/>
          <p:cNvSpPr/>
          <p:nvPr/>
        </p:nvSpPr>
        <p:spPr>
          <a:xfrm>
            <a:off x="7492668" y="6821522"/>
            <a:ext cx="9608758" cy="0"/>
          </a:xfrm>
          <a:prstGeom prst="line">
            <a:avLst/>
          </a:prstGeom>
          <a:ln cap="flat" w="38100">
            <a:gradFill>
              <a:gsLst>
                <a:gs pos="0">
                  <a:srgbClr val="FFFBFB">
                    <a:alpha val="0"/>
                  </a:srgbClr>
                </a:gs>
                <a:gs pos="50000">
                  <a:srgbClr val="FFFFFF">
                    <a:alpha val="10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5017365" y="1302059"/>
            <a:ext cx="9443323" cy="0"/>
          </a:xfrm>
          <a:prstGeom prst="line">
            <a:avLst/>
          </a:prstGeom>
          <a:ln cap="flat" w="571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 flipV="true">
            <a:off x="1028700" y="9332996"/>
            <a:ext cx="16250540" cy="0"/>
          </a:xfrm>
          <a:prstGeom prst="line">
            <a:avLst/>
          </a:prstGeom>
          <a:ln cap="flat" w="571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DAG-rYVSIxM</dc:identifier>
  <dcterms:modified xsi:type="dcterms:W3CDTF">2011-08-01T06:04:30Z</dcterms:modified>
  <cp:revision>1</cp:revision>
  <dc:title>AI Vision Assistant</dc:title>
</cp:coreProperties>
</file>